
<file path=[Content_Types].xml><?xml version="1.0" encoding="utf-8"?>
<Types xmlns="http://schemas.openxmlformats.org/package/2006/content-types">
  <Default Extension="mov" ContentType="video/quicktime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87" r:id="rId38"/>
    <p:sldId id="268" r:id="rId14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" id="{88078d99-f83c-d7c6-0205-297befc27b09}">
          <p14:sldIdLst>
            <p14:sldId id="256"/>
          </p14:sldIdLst>
        </p14:section>
        <p14:section name="Why" id="{486819f1-73c7-bfad-f953-533f1cc3705c}">
          <p14:sldIdLst>
            <p14:sldId id="257"/>
            <p14:sldId id="258"/>
          </p14:sldIdLst>
        </p14:section>
        <p14:section name="Solution" id="{67b8ebcd-f33f-6a14-cc5e-577ccc3b6930}">
          <p14:sldIdLst>
            <p14:sldId id="259"/>
          </p14:sldIdLst>
        </p14:section>
        <p14:section name="Knowledge base" id="{34c74cf9-df09-d541-b09c-e034e12f0cec}">
          <p14:sldIdLst>
            <p14:sldId id="260"/>
            <p14:sldId id="261"/>
            <p14:sldId id="262"/>
            <p14:sldId id="263"/>
            <p14:sldId id="264"/>
          </p14:sldIdLst>
        </p14:section>
        <p14:section name="Product" id="{fe288277-5a86-5669-1b5c-c4a4362f9219}">
          <p14:sldIdLst>
            <p14:sldId id="265"/>
            <p14:sldId id="266"/>
          </p14:sldIdLst>
        </p14:section>
        <p14:section name="Demo" id="{4b7a2113-9f70-8fee-2478-1de566020676}">
          <p14:sldIdLst>
            <p14:sldId id="267"/>
            <p14:sldId id="268"/>
            <p14:sldId id="269"/>
          </p14:sldIdLst>
        </p14:section>
        <p14:section name="Scale" id="{0a68f48f-44ef-58b4-32e2-85d68a767c33}">
          <p14:sldIdLst>
            <p14:sldId id="270"/>
            <p14:sldId id="271"/>
          </p14:sldIdLst>
        </p14:section>
        <p14:section name="Ecosystem" id="{4376849a-4809-198d-c4ed-eb8593e07bc3}">
          <p14:sldIdLst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  <Relationship Id="rId27" Type="http://schemas.openxmlformats.org/officeDocument/2006/relationships/slide" Target="slides/slide21.xml"/>
  <Relationship Id="rId28" Type="http://schemas.openxmlformats.org/officeDocument/2006/relationships/slide" Target="slides/slide22.xml"/>
  <Relationship Id="rId29" Type="http://schemas.openxmlformats.org/officeDocument/2006/relationships/slide" Target="slides/slide23.xml"/>
  <Relationship Id="rId30" Type="http://schemas.openxmlformats.org/officeDocument/2006/relationships/slide" Target="slides/slide24.xml"/>
  <Relationship Id="rId31" Type="http://schemas.openxmlformats.org/officeDocument/2006/relationships/slide" Target="slides/slide25.xml"/>
  <Relationship Id="rId32" Type="http://schemas.openxmlformats.org/officeDocument/2006/relationships/slide" Target="slides/slide26.xml"/>
  <Relationship Id="rId33" Type="http://schemas.openxmlformats.org/officeDocument/2006/relationships/slide" Target="slides/slide27.xml"/>
  <Relationship Id="rId34" Type="http://schemas.openxmlformats.org/officeDocument/2006/relationships/slide" Target="slides/slide28.xml"/>
  <Relationship Id="rId35" Type="http://schemas.openxmlformats.org/officeDocument/2006/relationships/slide" Target="slides/slide29.xml"/>
  <Relationship Id="rId36" Type="http://schemas.openxmlformats.org/officeDocument/2006/relationships/slide" Target="slides/slide30.xml"/>
  <Relationship Id="rId37" Type="http://schemas.openxmlformats.org/officeDocument/2006/relationships/slide" Target="slides/slide31.xml"/>
  <Relationship Id="rId38" Type="http://schemas.openxmlformats.org/officeDocument/2006/relationships/slide" Target="slides/slide32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P_TITLE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P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AdaptPro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P_CLOSE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hyperlink" Target="https://www.notion.com/blog/how-we-built-a-personal-data-scientist-for-every-notion-employee" TargetMode="External"/><Relationship Id="rId2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image" Target="../media/image-3-3.png"/><Relationship Id="rId5" Type="http://schemas.openxmlformats.org/officeDocument/2006/relationships/image" Target="../media/image-3-4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Relationship Id="rId6" Type="http://schemas.openxmlformats.org/officeDocument/2006/relationships/hyperlink" Target="https://gist.github.com/karpathy/442a6bf555914893e9891c11519de94f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9.xml"/><Relationship Id="rId1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github.com/Pranav-Cognite/AdaptPro" TargetMode="External"/><Relationship Id="rId10" Type="http://schemas.openxmlformats.org/officeDocument/2006/relationships/image" Target="../media/demo-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Relationship Id="rId4" Type="http://schemas.openxmlformats.org/officeDocument/2006/relationships/hyperlink" Target="https://github.com/Pranav-Cognite/AdaptPro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10" Type="http://schemas.openxmlformats.org/officeDocument/2006/relationships/image" Target="../media/demo-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10" Type="http://schemas.openxmlformats.org/officeDocument/2006/relationships/image" Target="../media/demo-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10" Type="http://schemas.openxmlformats.org/officeDocument/2006/relationships/image" Target="../media/demo-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10" Type="http://schemas.openxmlformats.org/officeDocument/2006/relationships/image" Target="../media/demo-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10" Type="http://schemas.openxmlformats.org/officeDocument/2006/relationships/image" Target="../media/demo-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10" Type="http://schemas.openxmlformats.org/officeDocument/2006/relationships/image" Target="../media/demo-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10" Type="http://schemas.openxmlformats.org/officeDocument/2006/relationships/image" Target="../media/demo-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10" Type="http://schemas.openxmlformats.org/officeDocument/2006/relationships/image" Target="../media/demo-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10" Type="http://schemas.openxmlformats.org/officeDocument/2006/relationships/image" Target="../media/demo-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10" Type="http://schemas.openxmlformats.org/officeDocument/2006/relationships/image" Target="../media/demo-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10" Type="http://schemas.openxmlformats.org/officeDocument/2006/relationships/image" Target="../media/demo-12.png"/></Relationships>
</file>

<file path=ppt/slides/_rels/slide32.xml.rels><?xml version="1.0" encoding="UTF-8" standalone="yes"?>
<Relationships xmlns="http://schemas.openxmlformats.org/package/2006/relationships"><Relationship Id="rId11" Type="http://schemas.openxmlformats.org/officeDocument/2006/relationships/slideLayout" Target="../slideLayouts/slideLayout3.xml"/><Relationship Id="rId20" Type="http://schemas.openxmlformats.org/officeDocument/2006/relationships/video" Target="../media/demo-recording.mov"/><Relationship Id="rId21" Type="http://schemas.microsoft.com/office/2007/relationships/media" Target="../media/demo-recording.mov"/><Relationship Id="rId22" Type="http://schemas.openxmlformats.org/officeDocument/2006/relationships/image" Target="../media/demo-recording-poster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nn-business"/>
          <p:cNvSpPr/>
          <p:nvPr/>
        </p:nvSpPr>
        <p:spPr>
          <a:xfrm>
            <a:off x="7086600" y="2560320"/>
            <a:ext cx="2468880" cy="2468880"/>
          </a:xfrm>
          <a:prstGeom prst="ellipse">
            <a:avLst/>
          </a:prstGeom>
          <a:solidFill>
            <a:schemeClr val="accent2">
              <a:alpha val="75000"/>
            </a:schemeClr>
          </a:solidFill>
          <a:ln/>
        </p:spPr>
      </p:sp>
      <p:sp>
        <p:nvSpPr>
          <p:cNvPr id="3" name="venn-tech"/>
          <p:cNvSpPr/>
          <p:nvPr/>
        </p:nvSpPr>
        <p:spPr>
          <a:xfrm>
            <a:off x="8732520" y="2560320"/>
            <a:ext cx="2468880" cy="2468880"/>
          </a:xfrm>
          <a:prstGeom prst="ellipse">
            <a:avLst/>
          </a:prstGeom>
          <a:solidFill>
            <a:schemeClr val="accent3">
              <a:alpha val="75000"/>
            </a:schemeClr>
          </a:solidFill>
          <a:ln/>
        </p:spPr>
      </p:sp>
      <p:sp>
        <p:nvSpPr>
          <p:cNvPr id="4" name="venn-product"/>
          <p:cNvSpPr/>
          <p:nvPr/>
        </p:nvSpPr>
        <p:spPr>
          <a:xfrm>
            <a:off x="7909560" y="1234440"/>
            <a:ext cx="2468880" cy="2468880"/>
          </a:xfrm>
          <a:prstGeom prst="ellipse">
            <a:avLst/>
          </a:prstGeom>
          <a:solidFill>
            <a:schemeClr val="accent1">
              <a:alpha val="75000"/>
            </a:schemeClr>
          </a:solidFill>
          <a:ln/>
        </p:spPr>
      </p:sp>
      <p:sp>
        <p:nvSpPr>
          <p:cNvPr id="5" name="venn-kb"/>
          <p:cNvSpPr/>
          <p:nvPr/>
        </p:nvSpPr>
        <p:spPr>
          <a:xfrm>
            <a:off x="8641080" y="2971800"/>
            <a:ext cx="1005840" cy="1005840"/>
          </a:xfrm>
          <a:prstGeom prst="ellipse">
            <a:avLst/>
          </a:prstGeom>
          <a:solidFill>
            <a:srgbClr val="0F1B2D"/>
          </a:solidFill>
          <a:ln/>
        </p:spPr>
      </p:sp>
      <p:pic>
        <p:nvPicPr>
          <p:cNvPr id="6" name="Image 0" descr="Fa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92540" y="322326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92240" y="5303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149840" y="5303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9144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0116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AdaptPro</a:t>
            </a:r>
            <a:endParaRPr lang="en-US" sz="6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29184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self-maintaining knowledge base for cross-functional alignment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DevCon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5212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Pranav Kalwad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5577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 (Value Delivery)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Everyone holds a piece of the picture</a:t>
            </a:r>
            <a:endParaRPr lang="en-US" sz="34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356616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777240" y="15544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FaUserT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17145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5727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side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0604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Goals, KPIs and context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committed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success looks like</a:t>
            </a:r>
            <a:endParaRPr lang="en-US" sz="1600" dirty="0"/>
          </a:p>
        </p:txBody>
      </p:sp>
      <p:sp>
        <p:nvSpPr>
          <p:cNvPr id="9" name="connector"/>
          <p:cNvSpPr/>
          <p:nvPr/>
        </p:nvSpPr>
        <p:spPr>
          <a:xfrm>
            <a:off x="2331720" y="4114800"/>
            <a:ext cx="0" cy="45720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0" name="card"/>
          <p:cNvSpPr/>
          <p:nvPr/>
        </p:nvSpPr>
        <p:spPr>
          <a:xfrm>
            <a:off x="4297680" y="1371600"/>
            <a:ext cx="356616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526280" y="15544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1" descr="FaClipboard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6300" y="171450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303520" y="15727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530352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scope side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260604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and scope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 and trade-offs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ships when</a:t>
            </a:r>
            <a:endParaRPr lang="en-US" sz="1600" dirty="0"/>
          </a:p>
        </p:txBody>
      </p:sp>
      <p:sp>
        <p:nvSpPr>
          <p:cNvPr id="16" name="connector"/>
          <p:cNvSpPr/>
          <p:nvPr/>
        </p:nvSpPr>
        <p:spPr>
          <a:xfrm>
            <a:off x="6080760" y="4114800"/>
            <a:ext cx="0" cy="45720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7" name="card"/>
          <p:cNvSpPr/>
          <p:nvPr/>
        </p:nvSpPr>
        <p:spPr>
          <a:xfrm>
            <a:off x="8046720" y="1371600"/>
            <a:ext cx="356616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18" name="icon-circle"/>
          <p:cNvSpPr/>
          <p:nvPr/>
        </p:nvSpPr>
        <p:spPr>
          <a:xfrm>
            <a:off x="8275320" y="155448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9" name="Image 2" descr="Fa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340" y="171450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052560" y="15727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905256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side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8321040" y="260604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and data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already built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limits</a:t>
            </a:r>
            <a:endParaRPr lang="en-US" sz="1600" dirty="0"/>
          </a:p>
        </p:txBody>
      </p:sp>
      <p:sp>
        <p:nvSpPr>
          <p:cNvPr id="23" name="connector"/>
          <p:cNvSpPr/>
          <p:nvPr/>
        </p:nvSpPr>
        <p:spPr>
          <a:xfrm>
            <a:off x="9829800" y="4114800"/>
            <a:ext cx="0" cy="45720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4" name="callout"/>
          <p:cNvSpPr/>
          <p:nvPr/>
        </p:nvSpPr>
        <p:spPr>
          <a:xfrm>
            <a:off x="548640" y="4617720"/>
            <a:ext cx="11064240" cy="1005840"/>
          </a:xfrm>
          <a:prstGeom prst="roundRect">
            <a:avLst>
              <a:gd name="adj" fmla="val 10909"/>
            </a:avLst>
          </a:prstGeom>
          <a:solidFill>
            <a:schemeClr val="tx1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548640" y="46177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meeting. Three partial pictures.</a:t>
            </a:r>
            <a:endParaRPr lang="en-US" sz="2800" dirty="0"/>
          </a:p>
        </p:txBody>
      </p:sp>
      <p:sp>
        <p:nvSpPr>
          <p:cNvPr id="26" name="Text 21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team walks in without knowing what the others know, or what to ask them.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Inspiration: a data scientist for everyone</a:t>
            </a:r>
            <a:endParaRPr lang="en-US" sz="3400" dirty="0"/>
          </a:p>
        </p:txBody>
      </p:sp>
      <p:sp>
        <p:nvSpPr>
          <p:cNvPr id="3" name="quote-card"/>
          <p:cNvSpPr/>
          <p:nvPr/>
        </p:nvSpPr>
        <p:spPr>
          <a:xfrm>
            <a:off x="548640" y="1463040"/>
            <a:ext cx="5760720" cy="4206240"/>
          </a:xfrm>
          <a:prstGeom prst="roundRect">
            <a:avLst>
              <a:gd name="adj" fmla="val 3261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55448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65176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employee at Notion has a Data Scientist.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8463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 blog: how they built a personal data scientist for every employee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85216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Notion blo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the original article on the Notion blog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1463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if everyone also had a colleague from each of the other functions?</a:t>
            </a:r>
            <a:endParaRPr lang="en-US" sz="2200" dirty="0"/>
          </a:p>
        </p:txBody>
      </p:sp>
      <p:sp>
        <p:nvSpPr>
          <p:cNvPr id="9" name="icon-circle"/>
          <p:cNvSpPr/>
          <p:nvPr/>
        </p:nvSpPr>
        <p:spPr>
          <a:xfrm>
            <a:off x="6858000" y="3566160"/>
            <a:ext cx="1005840" cy="1005840"/>
          </a:xfrm>
          <a:prstGeom prst="ellipse">
            <a:avLst/>
          </a:prstGeom>
          <a:solidFill>
            <a:srgbClr val="0F1B2D"/>
          </a:solidFill>
          <a:ln/>
        </p:spPr>
      </p:sp>
      <p:pic>
        <p:nvPicPr>
          <p:cNvPr id="10" name="Image 0" descr="FaUs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9460" y="3817620"/>
            <a:ext cx="502920" cy="5029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766560" y="46634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400" dirty="0"/>
          </a:p>
        </p:txBody>
      </p:sp>
      <p:sp>
        <p:nvSpPr>
          <p:cNvPr id="12" name="connector"/>
          <p:cNvSpPr/>
          <p:nvPr/>
        </p:nvSpPr>
        <p:spPr>
          <a:xfrm flipV="1">
            <a:off x="7955280" y="3154680"/>
            <a:ext cx="1463040" cy="91440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3" name="icon-circle"/>
          <p:cNvSpPr/>
          <p:nvPr/>
        </p:nvSpPr>
        <p:spPr>
          <a:xfrm>
            <a:off x="9418320" y="274320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Image 1" descr="FaUserTi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4060" y="294894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332720" y="2971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600" dirty="0"/>
          </a:p>
        </p:txBody>
      </p:sp>
      <p:sp>
        <p:nvSpPr>
          <p:cNvPr id="16" name="connector"/>
          <p:cNvSpPr/>
          <p:nvPr/>
        </p:nvSpPr>
        <p:spPr>
          <a:xfrm>
            <a:off x="7955280" y="4069080"/>
            <a:ext cx="1463040" cy="13716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7" name="icon-circle"/>
          <p:cNvSpPr/>
          <p:nvPr/>
        </p:nvSpPr>
        <p:spPr>
          <a:xfrm>
            <a:off x="9418320" y="379476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2" descr="FaClipboardLis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4060" y="4000500"/>
            <a:ext cx="411480" cy="41148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332720" y="40233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600" dirty="0"/>
          </a:p>
        </p:txBody>
      </p:sp>
      <p:sp>
        <p:nvSpPr>
          <p:cNvPr id="20" name="connector"/>
          <p:cNvSpPr/>
          <p:nvPr/>
        </p:nvSpPr>
        <p:spPr>
          <a:xfrm>
            <a:off x="7955280" y="4069080"/>
            <a:ext cx="1463040" cy="118872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1" name="icon-circle"/>
          <p:cNvSpPr/>
          <p:nvPr/>
        </p:nvSpPr>
        <p:spPr>
          <a:xfrm>
            <a:off x="9418320" y="484632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2" name="Image 3" descr="FaCod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4060" y="5052060"/>
            <a:ext cx="411480" cy="41148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332720" y="5074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6766560" y="5897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always-on expert for the questions you do not know to ask.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AdaptPro: one knowledge base, three personas</a:t>
            </a:r>
            <a:endParaRPr lang="en-US" sz="3400" dirty="0"/>
          </a:p>
        </p:txBody>
      </p:sp>
      <p:sp>
        <p:nvSpPr>
          <p:cNvPr id="3" name="card"/>
          <p:cNvSpPr/>
          <p:nvPr/>
        </p:nvSpPr>
        <p:spPr>
          <a:xfrm>
            <a:off x="457200" y="1463040"/>
            <a:ext cx="2286000" cy="310896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6002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</a:t>
            </a:r>
            <a:endParaRPr lang="en-US" sz="1800" dirty="0"/>
          </a:p>
        </p:txBody>
      </p:sp>
      <p:sp>
        <p:nvSpPr>
          <p:cNvPr id="5" name="icon-circle"/>
          <p:cNvSpPr/>
          <p:nvPr/>
        </p:nvSpPr>
        <p:spPr>
          <a:xfrm>
            <a:off x="685800" y="2194560"/>
            <a:ext cx="502920" cy="50292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mage 0" descr="FaFile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530" y="2320290"/>
            <a:ext cx="251460" cy="251460"/>
          </a:xfrm>
          <a:prstGeom prst="rect">
            <a:avLst/>
          </a:prstGeom>
        </p:spPr>
      </p:pic>
      <p:sp>
        <p:nvSpPr>
          <p:cNvPr id="7" name="icon-circle"/>
          <p:cNvSpPr/>
          <p:nvPr/>
        </p:nvSpPr>
        <p:spPr>
          <a:xfrm>
            <a:off x="1325880" y="2194560"/>
            <a:ext cx="502920" cy="50292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8" name="Image 1" descr="FaSl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610" y="2320290"/>
            <a:ext cx="251460" cy="251460"/>
          </a:xfrm>
          <a:prstGeom prst="rect">
            <a:avLst/>
          </a:prstGeom>
        </p:spPr>
      </p:pic>
      <p:sp>
        <p:nvSpPr>
          <p:cNvPr id="9" name="icon-circle"/>
          <p:cNvSpPr/>
          <p:nvPr/>
        </p:nvSpPr>
        <p:spPr>
          <a:xfrm>
            <a:off x="1965960" y="2194560"/>
            <a:ext cx="502920" cy="50292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0" name="Image 2" descr="FaJir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1690" y="2320290"/>
            <a:ext cx="251460" cy="251460"/>
          </a:xfrm>
          <a:prstGeom prst="rect">
            <a:avLst/>
          </a:prstGeom>
        </p:spPr>
      </p:pic>
      <p:sp>
        <p:nvSpPr>
          <p:cNvPr id="11" name="icon-circle"/>
          <p:cNvSpPr/>
          <p:nvPr/>
        </p:nvSpPr>
        <p:spPr>
          <a:xfrm>
            <a:off x="685800" y="2926080"/>
            <a:ext cx="502920" cy="50292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2" name="Image 3" descr="FaVide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530" y="3051810"/>
            <a:ext cx="251460" cy="251460"/>
          </a:xfrm>
          <a:prstGeom prst="rect">
            <a:avLst/>
          </a:prstGeom>
        </p:spPr>
      </p:pic>
      <p:sp>
        <p:nvSpPr>
          <p:cNvPr id="13" name="icon-circle"/>
          <p:cNvSpPr/>
          <p:nvPr/>
        </p:nvSpPr>
        <p:spPr>
          <a:xfrm>
            <a:off x="1325880" y="2926080"/>
            <a:ext cx="502920" cy="50292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4" name="Image 4" descr="FaDataba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1610" y="3051810"/>
            <a:ext cx="251460" cy="251460"/>
          </a:xfrm>
          <a:prstGeom prst="rect">
            <a:avLst/>
          </a:prstGeom>
        </p:spPr>
      </p:pic>
      <p:sp>
        <p:nvSpPr>
          <p:cNvPr id="15" name="icon-circle"/>
          <p:cNvSpPr/>
          <p:nvPr/>
        </p:nvSpPr>
        <p:spPr>
          <a:xfrm>
            <a:off x="1965960" y="2926080"/>
            <a:ext cx="502920" cy="50292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6" name="Image 5" descr="FaEnvelop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1690" y="3051810"/>
            <a:ext cx="251460" cy="25146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40080" y="37490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Docs, chats, tickets, meetings, CDF</a:t>
            </a:r>
            <a:endParaRPr lang="en-US" sz="1400" dirty="0"/>
          </a:p>
        </p:txBody>
      </p:sp>
      <p:sp>
        <p:nvSpPr>
          <p:cNvPr id="18" name="connector"/>
          <p:cNvSpPr/>
          <p:nvPr/>
        </p:nvSpPr>
        <p:spPr>
          <a:xfrm>
            <a:off x="2788920" y="3017520"/>
            <a:ext cx="5029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9" name="kb-card"/>
          <p:cNvSpPr/>
          <p:nvPr/>
        </p:nvSpPr>
        <p:spPr>
          <a:xfrm>
            <a:off x="3337560" y="1463040"/>
            <a:ext cx="2834640" cy="3108960"/>
          </a:xfrm>
          <a:prstGeom prst="roundRect">
            <a:avLst>
              <a:gd name="adj" fmla="val 4839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4251960" y="169164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6" descr="FaBoo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3420" y="1943100"/>
            <a:ext cx="502920" cy="50292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3429000" y="28346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base</a:t>
            </a:r>
            <a:endParaRPr lang="en-US" sz="2200" dirty="0"/>
          </a:p>
        </p:txBody>
      </p:sp>
      <p:sp>
        <p:nvSpPr>
          <p:cNvPr id="23" name="Text 14"/>
          <p:cNvSpPr txBox="1"/>
          <p:nvPr/>
        </p:nvSpPr>
        <p:spPr>
          <a:xfrm>
            <a:off x="3520440" y="33375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wiki: linked pages, every claim traced to its source</a:t>
            </a:r>
            <a:endParaRPr lang="en-US" sz="1400" dirty="0"/>
          </a:p>
        </p:txBody>
      </p:sp>
      <p:sp>
        <p:nvSpPr>
          <p:cNvPr id="24" name="connector"/>
          <p:cNvSpPr/>
          <p:nvPr/>
        </p:nvSpPr>
        <p:spPr>
          <a:xfrm>
            <a:off x="6217920" y="3017520"/>
            <a:ext cx="5029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5" name="persona-0"/>
          <p:cNvSpPr/>
          <p:nvPr/>
        </p:nvSpPr>
        <p:spPr>
          <a:xfrm>
            <a:off x="6766560" y="1463040"/>
            <a:ext cx="2468880" cy="9144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26" name="Text 17"/>
          <p:cNvSpPr txBox="1"/>
          <p:nvPr/>
        </p:nvSpPr>
        <p:spPr>
          <a:xfrm>
            <a:off x="6766560" y="14630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asks</a:t>
            </a:r>
            <a:endParaRPr lang="en-US" sz="1800" dirty="0"/>
          </a:p>
        </p:txBody>
      </p:sp>
      <p:sp>
        <p:nvSpPr>
          <p:cNvPr id="27" name="persona-1"/>
          <p:cNvSpPr/>
          <p:nvPr/>
        </p:nvSpPr>
        <p:spPr>
          <a:xfrm>
            <a:off x="6766560" y="2542032"/>
            <a:ext cx="246888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28" name="Text 19"/>
          <p:cNvSpPr txBox="1"/>
          <p:nvPr/>
        </p:nvSpPr>
        <p:spPr>
          <a:xfrm>
            <a:off x="6766560" y="2542032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asks</a:t>
            </a:r>
            <a:endParaRPr lang="en-US" sz="1800" dirty="0"/>
          </a:p>
        </p:txBody>
      </p:sp>
      <p:sp>
        <p:nvSpPr>
          <p:cNvPr id="29" name="persona-2"/>
          <p:cNvSpPr/>
          <p:nvPr/>
        </p:nvSpPr>
        <p:spPr>
          <a:xfrm>
            <a:off x="6766560" y="3621024"/>
            <a:ext cx="2468880" cy="914400"/>
          </a:xfrm>
          <a:prstGeom prst="roundRect">
            <a:avLst>
              <a:gd name="adj" fmla="val 12000"/>
            </a:avLst>
          </a:prstGeom>
          <a:solidFill>
            <a:schemeClr val="accent3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30" name="Text 21"/>
          <p:cNvSpPr txBox="1"/>
          <p:nvPr/>
        </p:nvSpPr>
        <p:spPr>
          <a:xfrm>
            <a:off x="6766560" y="3621024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asks</a:t>
            </a:r>
            <a:endParaRPr lang="en-US" sz="1800" dirty="0"/>
          </a:p>
        </p:txBody>
      </p:sp>
      <p:sp>
        <p:nvSpPr>
          <p:cNvPr id="31" name="connector"/>
          <p:cNvSpPr/>
          <p:nvPr/>
        </p:nvSpPr>
        <p:spPr>
          <a:xfrm>
            <a:off x="9281160" y="3017520"/>
            <a:ext cx="5029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2" name="card"/>
          <p:cNvSpPr/>
          <p:nvPr/>
        </p:nvSpPr>
        <p:spPr>
          <a:xfrm>
            <a:off x="9829800" y="1463040"/>
            <a:ext cx="1920240" cy="31089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33" name="icon-circle"/>
          <p:cNvSpPr/>
          <p:nvPr/>
        </p:nvSpPr>
        <p:spPr>
          <a:xfrm>
            <a:off x="10332720" y="1737360"/>
            <a:ext cx="914400" cy="9144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34" name="Image 7" descr="FaCompas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61320" y="1965960"/>
            <a:ext cx="457200" cy="457200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9966960" y="283464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questions, gaps and contradictions</a:t>
            </a:r>
            <a:endParaRPr lang="en-US" sz="1400" dirty="0"/>
          </a:p>
        </p:txBody>
      </p:sp>
      <p:sp>
        <p:nvSpPr>
          <p:cNvPr id="36" name="card"/>
          <p:cNvSpPr/>
          <p:nvPr/>
        </p:nvSpPr>
        <p:spPr>
          <a:xfrm>
            <a:off x="457200" y="489204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37" name="Text 27"/>
          <p:cNvSpPr txBox="1"/>
          <p:nvPr/>
        </p:nvSpPr>
        <p:spPr>
          <a:xfrm>
            <a:off x="685800" y="489204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demo is one use case: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 before cross-functional meetings.</a:t>
            </a:r>
            <a:endParaRPr lang="en-US" sz="1800" dirty="0"/>
          </a:p>
        </p:txBody>
      </p:sp>
      <p:sp>
        <p:nvSpPr>
          <p:cNvPr id="38" name="card"/>
          <p:cNvSpPr/>
          <p:nvPr/>
        </p:nvSpPr>
        <p:spPr>
          <a:xfrm>
            <a:off x="6263640" y="489204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39" name="Text 29"/>
          <p:cNvSpPr txBox="1"/>
          <p:nvPr/>
        </p:nvSpPr>
        <p:spPr>
          <a:xfrm>
            <a:off x="6492240" y="489204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ownership: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base belongs to every persona, not one team.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Compiled, not searched: the LLM wiki</a:t>
            </a:r>
            <a:endParaRPr lang="en-US" sz="34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5303520" cy="338328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822960" y="1600200"/>
            <a:ext cx="731520" cy="73152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5" name="Image 0" descr="Fa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002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at question time (RAG)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6517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Fetches similar passages when asked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blends them into one fluent answer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disagreement can quietly disappear</a:t>
            </a:r>
            <a:endParaRPr lang="en-US" sz="1800" dirty="0"/>
          </a:p>
        </p:txBody>
      </p:sp>
      <p:sp>
        <p:nvSpPr>
          <p:cNvPr id="8" name="card"/>
          <p:cNvSpPr/>
          <p:nvPr/>
        </p:nvSpPr>
        <p:spPr>
          <a:xfrm>
            <a:off x="6309360" y="1371600"/>
            <a:ext cx="5303520" cy="338328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317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6583680" y="16002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FaB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8308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98080" y="16002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 once, link everything (LLM wiki)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675120" y="26517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become linked Markdown pages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cites its page and its source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sides of a disagreement are preserved</a:t>
            </a:r>
            <a:endParaRPr lang="en-US" sz="1800" dirty="0"/>
          </a:p>
        </p:txBody>
      </p:sp>
      <p:sp>
        <p:nvSpPr>
          <p:cNvPr id="13" name="callout"/>
          <p:cNvSpPr/>
          <p:nvPr/>
        </p:nvSpPr>
        <p:spPr>
          <a:xfrm>
            <a:off x="548640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chemeClr val="tx1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48640" y="507492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the knowledge base is weak, every agent on top of it is useless.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 → Query → Lint</a:t>
            </a:r>
            <a:endParaRPr lang="en-US" sz="3400" dirty="0"/>
          </a:p>
        </p:txBody>
      </p:sp>
      <p:sp>
        <p:nvSpPr>
          <p:cNvPr id="3" name="icon-circle"/>
          <p:cNvSpPr/>
          <p:nvPr/>
        </p:nvSpPr>
        <p:spPr>
          <a:xfrm>
            <a:off x="1417320" y="1417320"/>
            <a:ext cx="1554480" cy="15544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mage 0" descr="FaSyn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5940" y="1805940"/>
            <a:ext cx="777240" cy="777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61188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the latest from every source. Update pages. Keep both sides of any disagreement.</a:t>
            </a:r>
            <a:endParaRPr lang="en-US" sz="1600" dirty="0"/>
          </a:p>
        </p:txBody>
      </p:sp>
      <p:sp>
        <p:nvSpPr>
          <p:cNvPr id="7" name="icon-circle"/>
          <p:cNvSpPr/>
          <p:nvPr/>
        </p:nvSpPr>
        <p:spPr>
          <a:xfrm>
            <a:off x="5321808" y="1417320"/>
            <a:ext cx="1554480" cy="15544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8" name="Image 1" descr="FaSea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0428" y="1805940"/>
            <a:ext cx="777240" cy="777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44568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Query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4544568" y="361188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persona asks in their own voice. Answers cite pages, or say “not in the wiki”.</a:t>
            </a:r>
            <a:endParaRPr lang="en-US" sz="1600" dirty="0"/>
          </a:p>
        </p:txBody>
      </p:sp>
      <p:sp>
        <p:nvSpPr>
          <p:cNvPr id="11" name="icon-circle"/>
          <p:cNvSpPr/>
          <p:nvPr/>
        </p:nvSpPr>
        <p:spPr>
          <a:xfrm>
            <a:off x="9217152" y="1417320"/>
            <a:ext cx="1554480" cy="15544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2" name="Image 2" descr="FaCheck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5772" y="1805940"/>
            <a:ext cx="777240" cy="7772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439912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Lint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8439912" y="361188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contradictions, stale claims, orphans, broken links. Propose fixes.</a:t>
            </a:r>
            <a:endParaRPr lang="en-US" sz="1600" dirty="0"/>
          </a:p>
        </p:txBody>
      </p:sp>
      <p:sp>
        <p:nvSpPr>
          <p:cNvPr id="15" name="connector"/>
          <p:cNvSpPr/>
          <p:nvPr/>
        </p:nvSpPr>
        <p:spPr>
          <a:xfrm>
            <a:off x="3108960" y="2194560"/>
            <a:ext cx="2103120" cy="0"/>
          </a:xfrm>
          <a:prstGeom prst="line">
            <a:avLst/>
          </a:prstGeom>
          <a:noFill/>
          <a:ln w="381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6" name="connector"/>
          <p:cNvSpPr/>
          <p:nvPr/>
        </p:nvSpPr>
        <p:spPr>
          <a:xfrm>
            <a:off x="6995160" y="2194560"/>
            <a:ext cx="2103120" cy="0"/>
          </a:xfrm>
          <a:prstGeom prst="line">
            <a:avLst/>
          </a:prstGeom>
          <a:noFill/>
          <a:ln w="381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7" name="connector"/>
          <p:cNvSpPr/>
          <p:nvPr/>
        </p:nvSpPr>
        <p:spPr>
          <a:xfrm>
            <a:off x="9994392" y="4892040"/>
            <a:ext cx="0" cy="548640"/>
          </a:xfrm>
          <a:prstGeom prst="line">
            <a:avLst/>
          </a:prstGeom>
          <a:noFill/>
          <a:ln w="38100">
            <a:solidFill>
              <a:schemeClr val="accent5"/>
            </a:solidFill>
            <a:prstDash val="solid"/>
          </a:ln>
        </p:spPr>
      </p:sp>
      <p:sp>
        <p:nvSpPr>
          <p:cNvPr id="18" name="connector"/>
          <p:cNvSpPr/>
          <p:nvPr/>
        </p:nvSpPr>
        <p:spPr>
          <a:xfrm flipH="1">
            <a:off x="2194560" y="5440680"/>
            <a:ext cx="7799832" cy="0"/>
          </a:xfrm>
          <a:prstGeom prst="line">
            <a:avLst/>
          </a:prstGeom>
          <a:noFill/>
          <a:ln w="38100">
            <a:solidFill>
              <a:schemeClr val="accent5"/>
            </a:solidFill>
            <a:prstDash val="solid"/>
          </a:ln>
        </p:spPr>
      </p:sp>
      <p:sp>
        <p:nvSpPr>
          <p:cNvPr id="19" name="connector"/>
          <p:cNvSpPr/>
          <p:nvPr/>
        </p:nvSpPr>
        <p:spPr>
          <a:xfrm flipV="1">
            <a:off x="2194560" y="4892040"/>
            <a:ext cx="0" cy="548640"/>
          </a:xfrm>
          <a:prstGeom prst="line">
            <a:avLst/>
          </a:prstGeom>
          <a:noFill/>
          <a:ln w="381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0" name="pill"/>
          <p:cNvSpPr/>
          <p:nvPr/>
        </p:nvSpPr>
        <p:spPr>
          <a:xfrm>
            <a:off x="2743200" y="5212080"/>
            <a:ext cx="6400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2743200" y="5212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runs on every ingest. A human reviews each proposed fix, at first.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base heals itself, so it can be trusted.</a:t>
            </a:r>
            <a:endParaRPr lang="en-US" sz="1600" dirty="0"/>
          </a:p>
        </p:txBody>
      </p:sp>
      <p:sp>
        <p:nvSpPr>
          <p:cNvPr id="23" name="Source link"/>
          <p:cNvSpPr txBox="1"/>
          <p:nvPr/>
        </p:nvSpPr>
        <p:spPr>
          <a:xfrm>
            <a:off x="4572000" y="64008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more: </a:t>
            </a:r>
            <a:r>
              <a:rPr lang="en-US" sz="1200" u="sng" dirty="0">
                <a:hlinkClick r:id="rId6"/>
                <a:latin typeface="Calibri" pitchFamily="34" charset="0"/>
                <a:ea typeface="Calibri" pitchFamily="34" charset="-122"/>
                <a:cs typeface="Calibri" pitchFamily="34" charset="-120"/>
              </a:rPr>
              <a:t>Karpathy, “LLM Wiki” (GitHub Gist)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the knowledge base</a:t>
            </a:r>
            <a:endParaRPr lang="en-US" sz="3400" dirty="0"/>
          </a:p>
        </p:txBody>
      </p:sp>
      <p:sp>
        <p:nvSpPr>
          <p:cNvPr id="3" name="band-label-0"/>
          <p:cNvSpPr/>
          <p:nvPr/>
        </p:nvSpPr>
        <p:spPr>
          <a:xfrm>
            <a:off x="548640" y="1371600"/>
            <a:ext cx="2377440" cy="868680"/>
          </a:xfrm>
          <a:prstGeom prst="roundRect">
            <a:avLst>
              <a:gd name="adj" fmla="val 10526"/>
            </a:avLst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topics</a:t>
            </a:r>
            <a:endParaRPr lang="en-US" sz="1800" dirty="0"/>
          </a:p>
        </p:txBody>
      </p:sp>
      <p:sp>
        <p:nvSpPr>
          <p:cNvPr id="5" name="card"/>
          <p:cNvSpPr/>
          <p:nvPr/>
        </p:nvSpPr>
        <p:spPr>
          <a:xfrm>
            <a:off x="3017520" y="1371600"/>
            <a:ext cx="4572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00400" y="137160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personas have not settled. A gap is flagged, never rounded up to “aligned”.</a:t>
            </a:r>
            <a:endParaRPr lang="en-US" sz="1400" dirty="0"/>
          </a:p>
        </p:txBody>
      </p:sp>
      <p:sp>
        <p:nvSpPr>
          <p:cNvPr id="7" name="band-label-1"/>
          <p:cNvSpPr/>
          <p:nvPr/>
        </p:nvSpPr>
        <p:spPr>
          <a:xfrm>
            <a:off x="548640" y="2395728"/>
            <a:ext cx="2377440" cy="868680"/>
          </a:xfrm>
          <a:prstGeom prst="roundRect">
            <a:avLst>
              <a:gd name="adj" fmla="val 10526"/>
            </a:avLst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39572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pages</a:t>
            </a:r>
            <a:endParaRPr lang="en-US" sz="1800" dirty="0"/>
          </a:p>
        </p:txBody>
      </p:sp>
      <p:sp>
        <p:nvSpPr>
          <p:cNvPr id="9" name="card"/>
          <p:cNvSpPr/>
          <p:nvPr/>
        </p:nvSpPr>
        <p:spPr>
          <a:xfrm>
            <a:off x="3017520" y="2395728"/>
            <a:ext cx="4572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0" y="2395728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Exclusive views: each written only from that side's documents.</a:t>
            </a:r>
            <a:endParaRPr lang="en-US" sz="1400" dirty="0"/>
          </a:p>
        </p:txBody>
      </p:sp>
      <p:sp>
        <p:nvSpPr>
          <p:cNvPr id="11" name="band-label-2"/>
          <p:cNvSpPr/>
          <p:nvPr/>
        </p:nvSpPr>
        <p:spPr>
          <a:xfrm>
            <a:off x="548640" y="3419856"/>
            <a:ext cx="2377440" cy="868680"/>
          </a:xfrm>
          <a:prstGeom prst="roundRect">
            <a:avLst>
              <a:gd name="adj" fmla="val 10526"/>
            </a:avLst>
          </a:prstGeom>
          <a:solidFill>
            <a:schemeClr val="accent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419856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Glossaries</a:t>
            </a:r>
            <a:endParaRPr lang="en-US" sz="1800" dirty="0"/>
          </a:p>
        </p:txBody>
      </p:sp>
      <p:sp>
        <p:nvSpPr>
          <p:cNvPr id="13" name="card"/>
          <p:cNvSpPr/>
          <p:nvPr/>
        </p:nvSpPr>
        <p:spPr>
          <a:xfrm>
            <a:off x="3017520" y="3419856"/>
            <a:ext cx="4572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00400" y="3419856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persona's vocabulary, explained to the other two.</a:t>
            </a:r>
            <a:endParaRPr lang="en-US" sz="1400" dirty="0"/>
          </a:p>
        </p:txBody>
      </p:sp>
      <p:sp>
        <p:nvSpPr>
          <p:cNvPr id="15" name="band-label-3"/>
          <p:cNvSpPr/>
          <p:nvPr/>
        </p:nvSpPr>
        <p:spPr>
          <a:xfrm>
            <a:off x="548640" y="4443984"/>
            <a:ext cx="2377440" cy="868680"/>
          </a:xfrm>
          <a:prstGeom prst="roundRect">
            <a:avLst>
              <a:gd name="adj" fmla="val 10526"/>
            </a:avLst>
          </a:prstGeom>
          <a:solidFill>
            <a:schemeClr val="accent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443984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pages</a:t>
            </a:r>
            <a:endParaRPr lang="en-US" sz="1800" dirty="0"/>
          </a:p>
        </p:txBody>
      </p:sp>
      <p:sp>
        <p:nvSpPr>
          <p:cNvPr id="17" name="card"/>
          <p:cNvSpPr/>
          <p:nvPr/>
        </p:nvSpPr>
        <p:spPr>
          <a:xfrm>
            <a:off x="3017520" y="4443984"/>
            <a:ext cx="4572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00400" y="4443984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summary per ingested document. Claims stay attributable.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7955280" y="1371600"/>
            <a:ext cx="365760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138160" y="15544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1" name="Image 0" descr="Fa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691640"/>
            <a:ext cx="274320" cy="2743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882396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Schema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8138160" y="228600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Conventions every agent follows, including who owns which decision.</a:t>
            </a:r>
            <a:endParaRPr lang="en-US" sz="1400" dirty="0"/>
          </a:p>
        </p:txBody>
      </p:sp>
      <p:sp>
        <p:nvSpPr>
          <p:cNvPr id="24" name="card"/>
          <p:cNvSpPr/>
          <p:nvPr/>
        </p:nvSpPr>
        <p:spPr>
          <a:xfrm>
            <a:off x="7955280" y="3429000"/>
            <a:ext cx="365760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8138160" y="361188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6" name="Image 1" descr="FaProjectDiagra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3749040"/>
            <a:ext cx="274320" cy="27432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8823960" y="3657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 layer</a:t>
            </a:r>
            <a:endParaRPr lang="en-US" sz="1800" dirty="0"/>
          </a:p>
        </p:txBody>
      </p:sp>
      <p:sp>
        <p:nvSpPr>
          <p:cNvPr id="28" name="Text 24"/>
          <p:cNvSpPr txBox="1"/>
          <p:nvPr/>
        </p:nvSpPr>
        <p:spPr>
          <a:xfrm>
            <a:off x="8138160" y="434340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links between pages, assets and claims for navigation.</a:t>
            </a:r>
            <a:endParaRPr lang="en-US" sz="1400" dirty="0"/>
          </a:p>
        </p:txBody>
      </p:sp>
      <p:sp>
        <p:nvSpPr>
          <p:cNvPr id="29" name="callout"/>
          <p:cNvSpPr/>
          <p:nvPr/>
        </p:nvSpPr>
        <p:spPr>
          <a:xfrm>
            <a:off x="548640" y="5577840"/>
            <a:ext cx="11064240" cy="54864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links back: answer → wiki page → source document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Lint: self-healing with a human in the loop</a:t>
            </a:r>
            <a:endParaRPr lang="en-US" sz="34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265176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777240" y="16002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5" name="Image 0" descr="Fa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690" y="177165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468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Contradictions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880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pages state conflicting facts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355848" y="1371600"/>
            <a:ext cx="265176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3584448" y="160020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mage 1" descr="FaHis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5898" y="177165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84448" y="2468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Superseded claims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584448" y="2880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newer source replaced an older claim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163056" y="1371600"/>
            <a:ext cx="265176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6391656" y="1600200"/>
            <a:ext cx="685800" cy="6858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5" name="Image 2" descr="FaCub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106" y="1771650"/>
            <a:ext cx="342900" cy="3429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91656" y="2468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Orphan pages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391656" y="2880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that nothing links to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8970264" y="1371600"/>
            <a:ext cx="265176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9198864" y="160020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Image 3" descr="Fa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0314" y="1771650"/>
            <a:ext cx="342900" cy="3429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98864" y="2468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Missing links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198864" y="2880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with no target page</a:t>
            </a:r>
            <a:endParaRPr lang="en-US" sz="1400" dirty="0"/>
          </a:p>
        </p:txBody>
      </p:sp>
      <p:sp>
        <p:nvSpPr>
          <p:cNvPr id="23" name="step-0"/>
          <p:cNvSpPr/>
          <p:nvPr/>
        </p:nvSpPr>
        <p:spPr>
          <a:xfrm>
            <a:off x="548640" y="4114800"/>
            <a:ext cx="2834640" cy="100584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1051560" y="41148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is ingested</a:t>
            </a:r>
            <a:endParaRPr lang="en-US" sz="1400" dirty="0"/>
          </a:p>
        </p:txBody>
      </p:sp>
      <p:sp>
        <p:nvSpPr>
          <p:cNvPr id="25" name="step-1"/>
          <p:cNvSpPr/>
          <p:nvPr/>
        </p:nvSpPr>
        <p:spPr>
          <a:xfrm>
            <a:off x="3319272" y="4114800"/>
            <a:ext cx="2834640" cy="1005840"/>
          </a:xfrm>
          <a:prstGeom prst="chevron">
            <a:avLst/>
          </a:prstGeom>
          <a:solidFill>
            <a:schemeClr val="accent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3822192" y="41148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flags a conflict</a:t>
            </a:r>
            <a:endParaRPr lang="en-US" sz="1400" dirty="0"/>
          </a:p>
        </p:txBody>
      </p:sp>
      <p:sp>
        <p:nvSpPr>
          <p:cNvPr id="27" name="step-2"/>
          <p:cNvSpPr/>
          <p:nvPr/>
        </p:nvSpPr>
        <p:spPr>
          <a:xfrm>
            <a:off x="6089904" y="4114800"/>
            <a:ext cx="2834640" cy="100584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92824" y="41148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proposes a resolution</a:t>
            </a:r>
            <a:endParaRPr lang="en-US" sz="1400" dirty="0"/>
          </a:p>
        </p:txBody>
      </p:sp>
      <p:sp>
        <p:nvSpPr>
          <p:cNvPr id="29" name="step-3"/>
          <p:cNvSpPr/>
          <p:nvPr/>
        </p:nvSpPr>
        <p:spPr>
          <a:xfrm>
            <a:off x="8860536" y="4114800"/>
            <a:ext cx="2834640" cy="100584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9363456" y="41148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approves, wiki is updated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548640" y="54864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human first: a model that merges two claims into one fluent page can hide the very conflict we want to surface.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Sources: where the knowledge comes from</a:t>
            </a:r>
            <a:endParaRPr lang="en-US" sz="3400" dirty="0"/>
          </a:p>
        </p:txBody>
      </p:sp>
      <p:sp>
        <p:nvSpPr>
          <p:cNvPr id="3" name="card"/>
          <p:cNvSpPr/>
          <p:nvPr/>
        </p:nvSpPr>
        <p:spPr>
          <a:xfrm>
            <a:off x="548640" y="1325880"/>
            <a:ext cx="3566160" cy="10515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317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" name="icon-circle"/>
          <p:cNvSpPr/>
          <p:nvPr/>
        </p:nvSpPr>
        <p:spPr>
          <a:xfrm>
            <a:off x="777240" y="1531619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5" name="Image 0" descr="FaFile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1691639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Docs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783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Pre-sales, SoWs, glossaries, KPIs, OKRs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3017520" y="1399032"/>
            <a:ext cx="1005840" cy="25603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3017520" y="13990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demo</a:t>
            </a:r>
            <a:endParaRPr lang="en-US" sz="1000" dirty="0"/>
          </a:p>
        </p:txBody>
      </p:sp>
      <p:sp>
        <p:nvSpPr>
          <p:cNvPr id="10" name="card"/>
          <p:cNvSpPr/>
          <p:nvPr/>
        </p:nvSpPr>
        <p:spPr>
          <a:xfrm>
            <a:off x="4297680" y="1325880"/>
            <a:ext cx="3566160" cy="10515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icon-circle"/>
          <p:cNvSpPr/>
          <p:nvPr/>
        </p:nvSpPr>
        <p:spPr>
          <a:xfrm>
            <a:off x="4526280" y="1531619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p/>
        </p:txBody>
      </p:sp>
      <p:pic>
        <p:nvPicPr>
          <p:cNvPr id="12" name="Image 1" descr="FaEnvelo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6300" y="1691639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3492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threads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5349240" y="1783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and external stakeholders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8046720" y="1325880"/>
            <a:ext cx="3566160" cy="10515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icon-circle"/>
          <p:cNvSpPr/>
          <p:nvPr/>
        </p:nvSpPr>
        <p:spPr>
          <a:xfrm>
            <a:off x="8275320" y="1531619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p/>
        </p:txBody>
      </p:sp>
      <p:pic>
        <p:nvPicPr>
          <p:cNvPr id="17" name="Image 2" descr="FaSla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340" y="1691639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9828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Slack threads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9098280" y="1783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and engagement-locked channels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548640" y="2514600"/>
            <a:ext cx="3566160" cy="10515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icon-circle"/>
          <p:cNvSpPr/>
          <p:nvPr/>
        </p:nvSpPr>
        <p:spPr>
          <a:xfrm>
            <a:off x="777240" y="272034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p/>
        </p:txBody>
      </p:sp>
      <p:pic>
        <p:nvPicPr>
          <p:cNvPr id="22" name="Image 3" descr="FaJi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60" y="2880360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0020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Jira tickets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1600200" y="29718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Open, closed, pending</a:t>
            </a:r>
            <a:endParaRPr lang="en-US" sz="1400" dirty="0"/>
          </a:p>
        </p:txBody>
      </p:sp>
      <p:sp>
        <p:nvSpPr>
          <p:cNvPr id="25" name="card"/>
          <p:cNvSpPr/>
          <p:nvPr/>
        </p:nvSpPr>
        <p:spPr>
          <a:xfrm>
            <a:off x="4297680" y="2514600"/>
            <a:ext cx="3566160" cy="10515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icon-circle"/>
          <p:cNvSpPr/>
          <p:nvPr/>
        </p:nvSpPr>
        <p:spPr>
          <a:xfrm>
            <a:off x="4526280" y="272034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p/>
        </p:txBody>
      </p:sp>
      <p:pic>
        <p:nvPicPr>
          <p:cNvPr id="27" name="Image 4" descr="FaMicrosof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6300" y="288036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34924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 Teams chat</a:t>
            </a:r>
            <a:endParaRPr lang="en-US" sz="1800" dirty="0"/>
          </a:p>
        </p:txBody>
      </p:sp>
      <p:sp>
        <p:nvSpPr>
          <p:cNvPr id="29" name="Text 22"/>
          <p:cNvSpPr txBox="1"/>
          <p:nvPr/>
        </p:nvSpPr>
        <p:spPr>
          <a:xfrm>
            <a:off x="5349240" y="29718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Cross-persona discussions</a:t>
            </a:r>
            <a:endParaRPr lang="en-US" sz="1400" dirty="0"/>
          </a:p>
        </p:txBody>
      </p:sp>
      <p:sp>
        <p:nvSpPr>
          <p:cNvPr id="30" name="card"/>
          <p:cNvSpPr/>
          <p:nvPr/>
        </p:nvSpPr>
        <p:spPr>
          <a:xfrm>
            <a:off x="8046720" y="2514600"/>
            <a:ext cx="3566160" cy="10515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1" name="icon-circle"/>
          <p:cNvSpPr/>
          <p:nvPr/>
        </p:nvSpPr>
        <p:spPr>
          <a:xfrm>
            <a:off x="8275320" y="272034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p/>
        </p:txBody>
      </p:sp>
      <p:pic>
        <p:nvPicPr>
          <p:cNvPr id="32" name="Image 5" descr="FaConfluen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340" y="2880360"/>
            <a:ext cx="320040" cy="32004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9828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Confluence</a:t>
            </a:r>
            <a:endParaRPr lang="en-US" sz="1800" dirty="0"/>
          </a:p>
        </p:txBody>
      </p:sp>
      <p:sp>
        <p:nvSpPr>
          <p:cNvPr id="34" name="Text 26"/>
          <p:cNvSpPr txBox="1"/>
          <p:nvPr/>
        </p:nvSpPr>
        <p:spPr>
          <a:xfrm>
            <a:off x="9098280" y="29718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and platform documentation</a:t>
            </a:r>
            <a:endParaRPr lang="en-US" sz="1400" dirty="0"/>
          </a:p>
        </p:txBody>
      </p:sp>
      <p:sp>
        <p:nvSpPr>
          <p:cNvPr id="35" name="card"/>
          <p:cNvSpPr/>
          <p:nvPr/>
        </p:nvSpPr>
        <p:spPr>
          <a:xfrm>
            <a:off x="548640" y="3703320"/>
            <a:ext cx="3566160" cy="10515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6" name="icon-circle"/>
          <p:cNvSpPr/>
          <p:nvPr/>
        </p:nvSpPr>
        <p:spPr>
          <a:xfrm>
            <a:off x="777240" y="3909059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p/>
        </p:txBody>
      </p:sp>
      <p:pic>
        <p:nvPicPr>
          <p:cNvPr id="37" name="Image 6" descr="FaVide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7260" y="4069080"/>
            <a:ext cx="320040" cy="32004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600200" y="3794759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Meeting summaries</a:t>
            </a:r>
            <a:endParaRPr lang="en-US" sz="1800" dirty="0"/>
          </a:p>
        </p:txBody>
      </p:sp>
      <p:sp>
        <p:nvSpPr>
          <p:cNvPr id="39" name="Text 30"/>
          <p:cNvSpPr txBox="1"/>
          <p:nvPr/>
        </p:nvSpPr>
        <p:spPr>
          <a:xfrm>
            <a:off x="1600200" y="41605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and Meet AI summaries</a:t>
            </a:r>
            <a:endParaRPr lang="en-US" sz="1400" dirty="0"/>
          </a:p>
        </p:txBody>
      </p:sp>
      <p:sp>
        <p:nvSpPr>
          <p:cNvPr id="40" name="card"/>
          <p:cNvSpPr/>
          <p:nvPr/>
        </p:nvSpPr>
        <p:spPr>
          <a:xfrm>
            <a:off x="4297680" y="3703320"/>
            <a:ext cx="3566160" cy="10515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1" name="icon-circle"/>
          <p:cNvSpPr/>
          <p:nvPr/>
        </p:nvSpPr>
        <p:spPr>
          <a:xfrm>
            <a:off x="4526280" y="3909059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p/>
        </p:txBody>
      </p:sp>
      <p:pic>
        <p:nvPicPr>
          <p:cNvPr id="42" name="Image 7" descr="FaChalkboard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86300" y="4069080"/>
            <a:ext cx="320040" cy="32004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5349240" y="3794759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KT</a:t>
            </a:r>
            <a:endParaRPr lang="en-US" sz="1800" dirty="0"/>
          </a:p>
        </p:txBody>
      </p:sp>
      <p:sp>
        <p:nvSpPr>
          <p:cNvPr id="44" name="Text 34"/>
          <p:cNvSpPr txBox="1"/>
          <p:nvPr/>
        </p:nvSpPr>
        <p:spPr>
          <a:xfrm>
            <a:off x="5349240" y="41605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and recordings</a:t>
            </a:r>
            <a:endParaRPr lang="en-US" sz="1400" dirty="0"/>
          </a:p>
        </p:txBody>
      </p:sp>
      <p:sp>
        <p:nvSpPr>
          <p:cNvPr id="45" name="card"/>
          <p:cNvSpPr/>
          <p:nvPr/>
        </p:nvSpPr>
        <p:spPr>
          <a:xfrm>
            <a:off x="8046720" y="3703320"/>
            <a:ext cx="3566160" cy="10515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317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6" name="icon-circle"/>
          <p:cNvSpPr/>
          <p:nvPr/>
        </p:nvSpPr>
        <p:spPr>
          <a:xfrm>
            <a:off x="8275320" y="3909059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47" name="Image 8" descr="FaDatabas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35340" y="4069080"/>
            <a:ext cx="320040" cy="320040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9098280" y="3794759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CDF project</a:t>
            </a:r>
            <a:endParaRPr lang="en-US" sz="1800" dirty="0"/>
          </a:p>
        </p:txBody>
      </p:sp>
      <p:sp>
        <p:nvSpPr>
          <p:cNvPr id="49" name="Text 38"/>
          <p:cNvSpPr txBox="1"/>
          <p:nvPr/>
        </p:nvSpPr>
        <p:spPr>
          <a:xfrm>
            <a:off x="9098280" y="41605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model, pipelines, codebase</a:t>
            </a:r>
            <a:endParaRPr lang="en-US" sz="1400" dirty="0"/>
          </a:p>
        </p:txBody>
      </p:sp>
      <p:sp>
        <p:nvSpPr>
          <p:cNvPr id="50" name="pill"/>
          <p:cNvSpPr/>
          <p:nvPr/>
        </p:nvSpPr>
        <p:spPr>
          <a:xfrm>
            <a:off x="10515600" y="3776472"/>
            <a:ext cx="1005840" cy="25603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51" name="Text 40"/>
          <p:cNvSpPr txBox="1"/>
          <p:nvPr/>
        </p:nvSpPr>
        <p:spPr>
          <a:xfrm>
            <a:off x="10515600" y="37764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demo</a:t>
            </a:r>
            <a:endParaRPr lang="en-US" sz="1000" dirty="0"/>
          </a:p>
        </p:txBody>
      </p:sp>
      <p:sp>
        <p:nvSpPr>
          <p:cNvPr id="52" name="Text 41"/>
          <p:cNvSpPr txBox="1"/>
          <p:nvPr/>
        </p:nvSpPr>
        <p:spPr>
          <a:xfrm>
            <a:off x="4297680" y="4892040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ingests three engagement documents and a mock CDF project.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3" name="card"/>
          <p:cNvSpPr/>
          <p:nvPr/>
        </p:nvSpPr>
        <p:spPr>
          <a:xfrm>
            <a:off x="548640" y="4892040"/>
            <a:ext cx="3566160" cy="10515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4" name="icon-circle"/>
          <p:cNvSpPr/>
          <p:nvPr/>
        </p:nvSpPr>
        <p:spPr>
          <a:xfrm>
            <a:off x="777240" y="509778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p/>
        </p:txBody>
      </p:sp>
      <p:pic>
        <p:nvPicPr>
          <p:cNvPr id="55" name="Image 3" descr="SiNoti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7260" y="5257800"/>
            <a:ext cx="320040" cy="320040"/>
          </a:xfrm>
          <a:prstGeom prst="rect">
            <a:avLst/>
          </a:prstGeom>
        </p:spPr>
      </p:pic>
      <p:sp>
        <p:nvSpPr>
          <p:cNvPr id="56" name="Text 17"/>
          <p:cNvSpPr txBox="1"/>
          <p:nvPr/>
        </p:nvSpPr>
        <p:spPr>
          <a:xfrm>
            <a:off x="1600200" y="4983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Notion</a:t>
            </a:r>
            <a:endParaRPr lang="en-US" sz="1800" dirty="0"/>
          </a:p>
        </p:txBody>
      </p:sp>
      <p:sp>
        <p:nvSpPr>
          <p:cNvPr id="57" name="Text 18"/>
          <p:cNvSpPr txBox="1"/>
          <p:nvPr/>
        </p:nvSpPr>
        <p:spPr>
          <a:xfrm>
            <a:off x="1600200" y="5349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and databases: specs, wikis, notes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agents use the knowledge base</a:t>
            </a:r>
            <a:endParaRPr lang="en-US" sz="34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338328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731520" y="16002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FaRob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76022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5361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agent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920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Briefs Business on Product and Tech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548640" y="2606040"/>
            <a:ext cx="338328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731520" y="2834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FaRo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" y="299466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554480" y="27706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agent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554480" y="31546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Briefs Product on Business and Tech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3840480"/>
            <a:ext cx="338328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731520" y="406908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Image 2" descr="FaRobo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422910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54480" y="40050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agent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1554480" y="43891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Briefs Tech on Business and Product</a:t>
            </a:r>
            <a:endParaRPr lang="en-US" sz="1400" dirty="0"/>
          </a:p>
        </p:txBody>
      </p:sp>
      <p:sp>
        <p:nvSpPr>
          <p:cNvPr id="18" name="connector"/>
          <p:cNvSpPr/>
          <p:nvPr/>
        </p:nvSpPr>
        <p:spPr>
          <a:xfrm>
            <a:off x="3977640" y="3154680"/>
            <a:ext cx="365760" cy="0"/>
          </a:xfrm>
          <a:prstGeom prst="line">
            <a:avLst/>
          </a:prstGeom>
          <a:noFill/>
          <a:ln w="381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9" name="Text 14"/>
          <p:cNvSpPr txBox="1"/>
          <p:nvPr/>
        </p:nvSpPr>
        <p:spPr>
          <a:xfrm>
            <a:off x="4389120" y="13533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every agent answers</a:t>
            </a:r>
            <a:endParaRPr lang="en-US" sz="1600" dirty="0"/>
          </a:p>
        </p:txBody>
      </p:sp>
      <p:sp>
        <p:nvSpPr>
          <p:cNvPr id="20" name="icon-circle"/>
          <p:cNvSpPr/>
          <p:nvPr/>
        </p:nvSpPr>
        <p:spPr>
          <a:xfrm>
            <a:off x="4389120" y="1847088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389120" y="18470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4937760" y="17830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a clarifying question first, when the answer depends on it</a:t>
            </a:r>
            <a:endParaRPr lang="en-US" sz="1400" dirty="0"/>
          </a:p>
        </p:txBody>
      </p:sp>
      <p:sp>
        <p:nvSpPr>
          <p:cNvPr id="23" name="icon-circle"/>
          <p:cNvSpPr/>
          <p:nvPr/>
        </p:nvSpPr>
        <p:spPr>
          <a:xfrm>
            <a:off x="4389120" y="2487168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4389120" y="24871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4937760" y="24231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index, then searches the whole wiki</a:t>
            </a:r>
            <a:endParaRPr lang="en-US" sz="1400" dirty="0"/>
          </a:p>
        </p:txBody>
      </p:sp>
      <p:sp>
        <p:nvSpPr>
          <p:cNvPr id="26" name="icon-circle"/>
          <p:cNvSpPr/>
          <p:nvPr/>
        </p:nvSpPr>
        <p:spPr>
          <a:xfrm>
            <a:off x="4389120" y="3127248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4389120" y="31272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3"/>
          <p:cNvSpPr txBox="1"/>
          <p:nvPr/>
        </p:nvSpPr>
        <p:spPr>
          <a:xfrm>
            <a:off x="4937760" y="30632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links to the source pages</a:t>
            </a:r>
            <a:endParaRPr lang="en-US" sz="1400" dirty="0"/>
          </a:p>
        </p:txBody>
      </p:sp>
      <p:sp>
        <p:nvSpPr>
          <p:cNvPr id="29" name="icon-circle"/>
          <p:cNvSpPr/>
          <p:nvPr/>
        </p:nvSpPr>
        <p:spPr>
          <a:xfrm>
            <a:off x="4389120" y="3767328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4389120" y="3767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4937760" y="37033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Cites one page per claim, or says “not in the wiki”</a:t>
            </a:r>
            <a:endParaRPr lang="en-US" sz="1400" dirty="0"/>
          </a:p>
        </p:txBody>
      </p:sp>
      <p:sp>
        <p:nvSpPr>
          <p:cNvPr id="32" name="icon-circle"/>
          <p:cNvSpPr/>
          <p:nvPr/>
        </p:nvSpPr>
        <p:spPr>
          <a:xfrm>
            <a:off x="4389120" y="4407408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4389120" y="44074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29"/>
          <p:cNvSpPr txBox="1"/>
          <p:nvPr/>
        </p:nvSpPr>
        <p:spPr>
          <a:xfrm>
            <a:off x="4937760" y="43434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 brief and at most five questions to ask</a:t>
            </a:r>
            <a:endParaRPr lang="en-US" sz="1400" dirty="0"/>
          </a:p>
        </p:txBody>
      </p:sp>
      <p:sp>
        <p:nvSpPr>
          <p:cNvPr id="35" name="connector"/>
          <p:cNvSpPr/>
          <p:nvPr/>
        </p:nvSpPr>
        <p:spPr>
          <a:xfrm>
            <a:off x="8641080" y="3154680"/>
            <a:ext cx="365760" cy="0"/>
          </a:xfrm>
          <a:prstGeom prst="line">
            <a:avLst/>
          </a:prstGeom>
          <a:noFill/>
          <a:ln w="381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6" name="wiki-box"/>
          <p:cNvSpPr/>
          <p:nvPr/>
        </p:nvSpPr>
        <p:spPr>
          <a:xfrm>
            <a:off x="9052560" y="1371600"/>
            <a:ext cx="2560320" cy="3566160"/>
          </a:xfrm>
          <a:prstGeom prst="roundRect">
            <a:avLst>
              <a:gd name="adj" fmla="val 5357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37" name="Text 32"/>
          <p:cNvSpPr txBox="1"/>
          <p:nvPr/>
        </p:nvSpPr>
        <p:spPr>
          <a:xfrm>
            <a:off x="9235440" y="1508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wiki</a:t>
            </a:r>
            <a:endParaRPr lang="en-US" sz="2000" dirty="0"/>
          </a:p>
        </p:txBody>
      </p:sp>
      <p:sp>
        <p:nvSpPr>
          <p:cNvPr id="38" name="Text 33"/>
          <p:cNvSpPr txBox="1"/>
          <p:nvPr/>
        </p:nvSpPr>
        <p:spPr>
          <a:xfrm>
            <a:off x="9235440" y="1874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for agents</a:t>
            </a:r>
            <a:endParaRPr lang="en-US" sz="1400" dirty="0"/>
          </a:p>
        </p:txBody>
      </p:sp>
      <p:sp>
        <p:nvSpPr>
          <p:cNvPr id="39" name="wiki-chip-0"/>
          <p:cNvSpPr/>
          <p:nvPr/>
        </p:nvSpPr>
        <p:spPr>
          <a:xfrm>
            <a:off x="9235440" y="2286000"/>
            <a:ext cx="2194560" cy="438912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9235440" y="228600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pages</a:t>
            </a:r>
            <a:endParaRPr lang="en-US" sz="1400" dirty="0"/>
          </a:p>
        </p:txBody>
      </p:sp>
      <p:sp>
        <p:nvSpPr>
          <p:cNvPr id="41" name="wiki-chip-1"/>
          <p:cNvSpPr/>
          <p:nvPr/>
        </p:nvSpPr>
        <p:spPr>
          <a:xfrm>
            <a:off x="9235440" y="2816352"/>
            <a:ext cx="2194560" cy="438912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9235440" y="2816352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topics</a:t>
            </a:r>
            <a:endParaRPr lang="en-US" sz="1400" dirty="0"/>
          </a:p>
        </p:txBody>
      </p:sp>
      <p:sp>
        <p:nvSpPr>
          <p:cNvPr id="43" name="wiki-chip-2"/>
          <p:cNvSpPr/>
          <p:nvPr/>
        </p:nvSpPr>
        <p:spPr>
          <a:xfrm>
            <a:off x="9235440" y="3346704"/>
            <a:ext cx="2194560" cy="438912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9235440" y="3346704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Glossaries</a:t>
            </a:r>
            <a:endParaRPr lang="en-US" sz="1400" dirty="0"/>
          </a:p>
        </p:txBody>
      </p:sp>
      <p:sp>
        <p:nvSpPr>
          <p:cNvPr id="45" name="wiki-chip-3"/>
          <p:cNvSpPr/>
          <p:nvPr/>
        </p:nvSpPr>
        <p:spPr>
          <a:xfrm>
            <a:off x="9235440" y="3877056"/>
            <a:ext cx="2194560" cy="438912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9235440" y="3877056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pages</a:t>
            </a:r>
            <a:endParaRPr lang="en-US" sz="1400" dirty="0"/>
          </a:p>
        </p:txBody>
      </p:sp>
      <p:sp>
        <p:nvSpPr>
          <p:cNvPr id="47" name="wiki-chip-4"/>
          <p:cNvSpPr/>
          <p:nvPr/>
        </p:nvSpPr>
        <p:spPr>
          <a:xfrm>
            <a:off x="9235440" y="4407408"/>
            <a:ext cx="2194560" cy="438912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9235440" y="4407408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layer</a:t>
            </a:r>
            <a:endParaRPr lang="en-US" sz="1400" dirty="0"/>
          </a:p>
        </p:txBody>
      </p:sp>
      <p:sp>
        <p:nvSpPr>
          <p:cNvPr id="49" name="callout"/>
          <p:cNvSpPr/>
          <p:nvPr/>
        </p:nvSpPr>
        <p:spPr>
          <a:xfrm>
            <a:off x="548640" y="5257800"/>
            <a:ext cx="11064240" cy="82296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548640" y="5257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 only read and cite. People ingest and update the wiki.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use cases</a:t>
            </a:r>
            <a:endParaRPr lang="en-US" sz="34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5760720" cy="4754880"/>
          </a:xfrm>
          <a:prstGeom prst="roundRect">
            <a:avLst>
              <a:gd name="adj" fmla="val 2308"/>
            </a:avLst>
          </a:prstGeom>
          <a:solidFill>
            <a:schemeClr val="bg2"/>
          </a:solidFill>
          <a:ln w="317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Homework use case (the demo)</a:t>
            </a:r>
            <a:endParaRPr lang="en-US" sz="2000" dirty="0"/>
          </a:p>
        </p:txBody>
      </p:sp>
      <p:sp>
        <p:nvSpPr>
          <p:cNvPr id="5" name="icon-circle"/>
          <p:cNvSpPr/>
          <p:nvPr/>
        </p:nvSpPr>
        <p:spPr>
          <a:xfrm>
            <a:off x="868680" y="21488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FaComp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23088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214884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work beyond your role</a:t>
            </a:r>
            <a:endParaRPr lang="en-US" sz="1600" dirty="0"/>
          </a:p>
        </p:txBody>
      </p:sp>
      <p:sp>
        <p:nvSpPr>
          <p:cNvPr id="8" name="icon-circle"/>
          <p:cNvSpPr/>
          <p:nvPr/>
        </p:nvSpPr>
        <p:spPr>
          <a:xfrm>
            <a:off x="868680" y="312724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1" descr="FaClipboard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" y="3287268"/>
            <a:ext cx="320040" cy="3200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37360" y="3127248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 before cross-functional and customer meetings</a:t>
            </a:r>
            <a:endParaRPr lang="en-US" sz="1600" dirty="0"/>
          </a:p>
        </p:txBody>
      </p:sp>
      <p:sp>
        <p:nvSpPr>
          <p:cNvPr id="11" name="icon-circle"/>
          <p:cNvSpPr/>
          <p:nvPr/>
        </p:nvSpPr>
        <p:spPr>
          <a:xfrm>
            <a:off x="868680" y="4105656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2" descr="FaCheck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4265676"/>
            <a:ext cx="320040" cy="3200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737360" y="4105656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alignment and readiness behind each decision</a:t>
            </a:r>
            <a:endParaRPr lang="en-US" sz="1600" dirty="0"/>
          </a:p>
        </p:txBody>
      </p:sp>
      <p:sp>
        <p:nvSpPr>
          <p:cNvPr id="14" name="icon-circle"/>
          <p:cNvSpPr/>
          <p:nvPr/>
        </p:nvSpPr>
        <p:spPr>
          <a:xfrm>
            <a:off x="868680" y="5084064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3" descr="FaChart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5244084"/>
            <a:ext cx="320040" cy="32004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737360" y="5084064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how your work fits and what it does to the business</a:t>
            </a:r>
            <a:endParaRPr lang="en-US" sz="1600" dirty="0"/>
          </a:p>
        </p:txBody>
      </p:sp>
      <p:sp>
        <p:nvSpPr>
          <p:cNvPr id="17" name="card"/>
          <p:cNvSpPr/>
          <p:nvPr/>
        </p:nvSpPr>
        <p:spPr>
          <a:xfrm>
            <a:off x="6583680" y="1371600"/>
            <a:ext cx="5029200" cy="4754880"/>
          </a:xfrm>
          <a:prstGeom prst="roundRect">
            <a:avLst>
              <a:gd name="adj" fmla="val 230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18" name="Text 12"/>
          <p:cNvSpPr txBox="1"/>
          <p:nvPr/>
        </p:nvSpPr>
        <p:spPr>
          <a:xfrm>
            <a:off x="6858000" y="15087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(named, not in the demo)</a:t>
            </a:r>
            <a:endParaRPr lang="en-US" sz="2000" dirty="0"/>
          </a:p>
        </p:txBody>
      </p:sp>
      <p:sp>
        <p:nvSpPr>
          <p:cNvPr id="19" name="icon-circle"/>
          <p:cNvSpPr/>
          <p:nvPr/>
        </p:nvSpPr>
        <p:spPr>
          <a:xfrm>
            <a:off x="6858000" y="210312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0" name="Image 4" descr="FaSla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2300" y="2217420"/>
            <a:ext cx="228600" cy="2286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498080" y="20574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Slack: joins long cross-persona threads and bridges people</a:t>
            </a:r>
            <a:endParaRPr lang="en-US" sz="1400" dirty="0"/>
          </a:p>
        </p:txBody>
      </p:sp>
      <p:sp>
        <p:nvSpPr>
          <p:cNvPr id="22" name="icon-circle"/>
          <p:cNvSpPr/>
          <p:nvPr/>
        </p:nvSpPr>
        <p:spPr>
          <a:xfrm>
            <a:off x="6858000" y="2770632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3" name="Image 5" descr="FaJir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2300" y="2884932"/>
            <a:ext cx="228600" cy="2286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7498080" y="272491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Jira: flags dependencies and aligns priorities on new tickets</a:t>
            </a:r>
            <a:endParaRPr lang="en-US" sz="1400" dirty="0"/>
          </a:p>
        </p:txBody>
      </p:sp>
      <p:sp>
        <p:nvSpPr>
          <p:cNvPr id="25" name="icon-circle"/>
          <p:cNvSpPr/>
          <p:nvPr/>
        </p:nvSpPr>
        <p:spPr>
          <a:xfrm>
            <a:off x="6858000" y="3438144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6" name="Image 6" descr="FaMicrosof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72300" y="3552444"/>
            <a:ext cx="228600" cy="22860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498080" y="339242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Teams: the same bridge agent in Teams channels</a:t>
            </a:r>
            <a:endParaRPr lang="en-US" sz="1400" dirty="0"/>
          </a:p>
        </p:txBody>
      </p:sp>
      <p:sp>
        <p:nvSpPr>
          <p:cNvPr id="28" name="icon-circle"/>
          <p:cNvSpPr/>
          <p:nvPr/>
        </p:nvSpPr>
        <p:spPr>
          <a:xfrm>
            <a:off x="6858000" y="4105656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9" name="Image 7" descr="FaBinocular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2300" y="4219956"/>
            <a:ext cx="228600" cy="22860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7498080" y="4059936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Look-ahead: failure patterns vs the current plan</a:t>
            </a:r>
            <a:endParaRPr lang="en-US" sz="1400" dirty="0"/>
          </a:p>
        </p:txBody>
      </p:sp>
      <p:sp>
        <p:nvSpPr>
          <p:cNvPr id="31" name="icon-circle"/>
          <p:cNvSpPr/>
          <p:nvPr/>
        </p:nvSpPr>
        <p:spPr>
          <a:xfrm>
            <a:off x="6858000" y="4773168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32" name="Image 8" descr="FaHistory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72300" y="4887468"/>
            <a:ext cx="228600" cy="228600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7498080" y="472744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plus now: past decisions with fresh events</a:t>
            </a:r>
            <a:endParaRPr lang="en-US" sz="1400" dirty="0"/>
          </a:p>
        </p:txBody>
      </p:sp>
      <p:sp>
        <p:nvSpPr>
          <p:cNvPr id="34" name="icon-circle"/>
          <p:cNvSpPr/>
          <p:nvPr/>
        </p:nvSpPr>
        <p:spPr>
          <a:xfrm>
            <a:off x="6858000" y="544068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35" name="Image 9" descr="FaCog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72300" y="5554980"/>
            <a:ext cx="228600" cy="228600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7498080" y="53949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Post-deployment CDF incident debugging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Demo: the request and the first clarifying question</a:t>
            </a:r>
            <a:endParaRPr lang="en-US" sz="3000" dirty="0"/>
          </a:p>
        </p:txBody>
      </p:sp>
      <p:pic>
        <p:nvPicPr>
          <p:cNvPr id="3" name="demo-screenshot-1" descr="Terminal: the Tech request and the first clarifying question about the meeting typ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3880" y="1280160"/>
            <a:ext cx="11064240" cy="3861419"/>
          </a:xfrm>
          <a:prstGeom prst="rect">
            <a:avLst/>
          </a:prstGeom>
          <a:ln w="9525">
            <a:solidFill>
              <a:srgbClr val="D0D5DD"/>
            </a:solidFill>
          </a:ln>
        </p:spPr>
      </p:pic>
      <p:sp>
        <p:nvSpPr>
          <p:cNvPr id="4" name="repo-link"/>
          <p:cNvSpPr txBox="1"/>
          <p:nvPr/>
        </p:nvSpPr>
        <p:spPr>
          <a:xfrm>
            <a:off x="7498080" y="6400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https://github.com/Pranav-Cognite/AdaptPro</a:t>
            </a:r>
            <a:endParaRPr lang="en-US" sz="14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Maturity and tech stack</a:t>
            </a:r>
            <a:endParaRPr lang="en-US" sz="3400" dirty="0"/>
          </a:p>
        </p:txBody>
      </p:sp>
      <p:sp>
        <p:nvSpPr>
          <p:cNvPr id="3" name="maturity-1"/>
          <p:cNvSpPr/>
          <p:nvPr/>
        </p:nvSpPr>
        <p:spPr>
          <a:xfrm>
            <a:off x="548640" y="1280160"/>
            <a:ext cx="3840480" cy="77724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7280" y="12801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LLM wiki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Built: this demo</a:t>
            </a:r>
            <a:endParaRPr lang="en-US" sz="1400" dirty="0"/>
          </a:p>
        </p:txBody>
      </p:sp>
      <p:sp>
        <p:nvSpPr>
          <p:cNvPr id="5" name="maturity-2"/>
          <p:cNvSpPr/>
          <p:nvPr/>
        </p:nvSpPr>
        <p:spPr>
          <a:xfrm>
            <a:off x="4160520" y="1280160"/>
            <a:ext cx="3840480" cy="777240"/>
          </a:xfrm>
          <a:prstGeom prst="chevron">
            <a:avLst/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709160" y="12801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Agentic patterns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Partly built</a:t>
            </a:r>
            <a:endParaRPr lang="en-US" sz="1400" dirty="0"/>
          </a:p>
        </p:txBody>
      </p:sp>
      <p:sp>
        <p:nvSpPr>
          <p:cNvPr id="7" name="maturity-3"/>
          <p:cNvSpPr/>
          <p:nvPr/>
        </p:nvSpPr>
        <p:spPr>
          <a:xfrm>
            <a:off x="7772400" y="1280160"/>
            <a:ext cx="3840480" cy="77724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321040" y="12801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Claim store + check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built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2402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today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20840" y="224028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 at scale</a:t>
            </a:r>
            <a:endParaRPr lang="en-US" sz="1600" dirty="0"/>
          </a:p>
        </p:txBody>
      </p:sp>
      <p:sp>
        <p:nvSpPr>
          <p:cNvPr id="11" name="layer-0"/>
          <p:cNvSpPr/>
          <p:nvPr/>
        </p:nvSpPr>
        <p:spPr>
          <a:xfrm>
            <a:off x="548640" y="2606040"/>
            <a:ext cx="2240280" cy="621792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606040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pattern</a:t>
            </a:r>
            <a:endParaRPr lang="en-US" sz="1600" dirty="0"/>
          </a:p>
        </p:txBody>
      </p:sp>
      <p:sp>
        <p:nvSpPr>
          <p:cNvPr id="13" name="card"/>
          <p:cNvSpPr/>
          <p:nvPr/>
        </p:nvSpPr>
        <p:spPr>
          <a:xfrm>
            <a:off x="2926080" y="2606040"/>
            <a:ext cx="338328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108960" y="2606040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read-only persona agents</a:t>
            </a:r>
            <a:endParaRPr lang="en-US" sz="1400" dirty="0"/>
          </a:p>
        </p:txBody>
      </p:sp>
      <p:sp>
        <p:nvSpPr>
          <p:cNvPr id="15" name="connector"/>
          <p:cNvSpPr/>
          <p:nvPr/>
        </p:nvSpPr>
        <p:spPr>
          <a:xfrm>
            <a:off x="6355080" y="2916936"/>
            <a:ext cx="32004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6" name="card"/>
          <p:cNvSpPr/>
          <p:nvPr/>
        </p:nvSpPr>
        <p:spPr>
          <a:xfrm>
            <a:off x="6720840" y="2606040"/>
            <a:ext cx="489204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03720" y="260604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loop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(reason, act on wiki tools, observe) plus a critic agent</a:t>
            </a:r>
            <a:endParaRPr lang="en-US" sz="1400" dirty="0"/>
          </a:p>
        </p:txBody>
      </p:sp>
      <p:sp>
        <p:nvSpPr>
          <p:cNvPr id="18" name="layer-1"/>
          <p:cNvSpPr/>
          <p:nvPr/>
        </p:nvSpPr>
        <p:spPr>
          <a:xfrm>
            <a:off x="548640" y="3300984"/>
            <a:ext cx="2240280" cy="621792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300984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600" dirty="0"/>
          </a:p>
        </p:txBody>
      </p:sp>
      <p:sp>
        <p:nvSpPr>
          <p:cNvPr id="20" name="card"/>
          <p:cNvSpPr/>
          <p:nvPr/>
        </p:nvSpPr>
        <p:spPr>
          <a:xfrm>
            <a:off x="2926080" y="3300984"/>
            <a:ext cx="338328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108960" y="3300984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subagents</a:t>
            </a:r>
            <a:endParaRPr lang="en-US" sz="1400" dirty="0"/>
          </a:p>
        </p:txBody>
      </p:sp>
      <p:sp>
        <p:nvSpPr>
          <p:cNvPr id="22" name="connector"/>
          <p:cNvSpPr/>
          <p:nvPr/>
        </p:nvSpPr>
        <p:spPr>
          <a:xfrm>
            <a:off x="6355080" y="3611880"/>
            <a:ext cx="32004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3" name="card"/>
          <p:cNvSpPr/>
          <p:nvPr/>
        </p:nvSpPr>
        <p:spPr>
          <a:xfrm>
            <a:off x="6720840" y="3300984"/>
            <a:ext cx="489204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3300984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stateful graph, checkpoints, human approval step</a:t>
            </a:r>
            <a:endParaRPr lang="en-US" sz="1400" dirty="0"/>
          </a:p>
        </p:txBody>
      </p:sp>
      <p:sp>
        <p:nvSpPr>
          <p:cNvPr id="25" name="layer-2"/>
          <p:cNvSpPr/>
          <p:nvPr/>
        </p:nvSpPr>
        <p:spPr>
          <a:xfrm>
            <a:off x="548640" y="3995928"/>
            <a:ext cx="2240280" cy="621792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3995928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layer</a:t>
            </a:r>
            <a:endParaRPr lang="en-US" sz="1600" dirty="0"/>
          </a:p>
        </p:txBody>
      </p:sp>
      <p:sp>
        <p:nvSpPr>
          <p:cNvPr id="27" name="card"/>
          <p:cNvSpPr/>
          <p:nvPr/>
        </p:nvSpPr>
        <p:spPr>
          <a:xfrm>
            <a:off x="2926080" y="3995928"/>
            <a:ext cx="338328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08960" y="3995928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Claude, through Claude Code</a:t>
            </a:r>
            <a:endParaRPr lang="en-US" sz="1400" dirty="0"/>
          </a:p>
        </p:txBody>
      </p:sp>
      <p:sp>
        <p:nvSpPr>
          <p:cNvPr id="29" name="connector"/>
          <p:cNvSpPr/>
          <p:nvPr/>
        </p:nvSpPr>
        <p:spPr>
          <a:xfrm>
            <a:off x="6355080" y="4306824"/>
            <a:ext cx="32004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0" name="card"/>
          <p:cNvSpPr/>
          <p:nvPr/>
        </p:nvSpPr>
        <p:spPr>
          <a:xfrm>
            <a:off x="6720840" y="3995928"/>
            <a:ext cx="489204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903720" y="399592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Model-agnostic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swap LLMs behind one gateway, no agent rewrite</a:t>
            </a:r>
            <a:endParaRPr lang="en-US" sz="1400" dirty="0"/>
          </a:p>
        </p:txBody>
      </p:sp>
      <p:sp>
        <p:nvSpPr>
          <p:cNvPr id="32" name="layer-3"/>
          <p:cNvSpPr/>
          <p:nvPr/>
        </p:nvSpPr>
        <p:spPr>
          <a:xfrm>
            <a:off x="548640" y="4690872"/>
            <a:ext cx="2240280" cy="621792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" y="4690872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1600" dirty="0"/>
          </a:p>
        </p:txBody>
      </p:sp>
      <p:sp>
        <p:nvSpPr>
          <p:cNvPr id="34" name="card"/>
          <p:cNvSpPr/>
          <p:nvPr/>
        </p:nvSpPr>
        <p:spPr>
          <a:xfrm>
            <a:off x="2926080" y="4690872"/>
            <a:ext cx="338328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108960" y="4690872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wiki: Markdown in git</a:t>
            </a:r>
            <a:endParaRPr lang="en-US" sz="1400" dirty="0"/>
          </a:p>
        </p:txBody>
      </p:sp>
      <p:sp>
        <p:nvSpPr>
          <p:cNvPr id="36" name="connector"/>
          <p:cNvSpPr/>
          <p:nvPr/>
        </p:nvSpPr>
        <p:spPr>
          <a:xfrm>
            <a:off x="6355080" y="5001768"/>
            <a:ext cx="32004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7" name="card"/>
          <p:cNvSpPr/>
          <p:nvPr/>
        </p:nvSpPr>
        <p:spPr>
          <a:xfrm>
            <a:off x="6720840" y="4690872"/>
            <a:ext cx="489204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903720" y="4690872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store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delta ingest and hybrid keyword + vector search</a:t>
            </a:r>
            <a:endParaRPr lang="en-US" sz="1400" dirty="0"/>
          </a:p>
        </p:txBody>
      </p:sp>
      <p:sp>
        <p:nvSpPr>
          <p:cNvPr id="39" name="layer-4"/>
          <p:cNvSpPr/>
          <p:nvPr/>
        </p:nvSpPr>
        <p:spPr>
          <a:xfrm>
            <a:off x="548640" y="5385816"/>
            <a:ext cx="2240280" cy="621792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8640" y="5385816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600" dirty="0"/>
          </a:p>
        </p:txBody>
      </p:sp>
      <p:sp>
        <p:nvSpPr>
          <p:cNvPr id="41" name="card"/>
          <p:cNvSpPr/>
          <p:nvPr/>
        </p:nvSpPr>
        <p:spPr>
          <a:xfrm>
            <a:off x="2926080" y="5385816"/>
            <a:ext cx="338328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108960" y="5385816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review, git history</a:t>
            </a:r>
            <a:endParaRPr lang="en-US" sz="1400" dirty="0"/>
          </a:p>
        </p:txBody>
      </p:sp>
      <p:sp>
        <p:nvSpPr>
          <p:cNvPr id="43" name="connector"/>
          <p:cNvSpPr/>
          <p:nvPr/>
        </p:nvSpPr>
        <p:spPr>
          <a:xfrm>
            <a:off x="6355080" y="5696712"/>
            <a:ext cx="32004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44" name="card"/>
          <p:cNvSpPr/>
          <p:nvPr/>
        </p:nvSpPr>
        <p:spPr>
          <a:xfrm>
            <a:off x="6720840" y="5385816"/>
            <a:ext cx="489204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903720" y="5385816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tracing, evals and prompt versioning on every agent run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Scalability: six pressure points</a:t>
            </a:r>
            <a:endParaRPr lang="en-US" sz="34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777240" y="160020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Fa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690" y="177165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423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throughput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8346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must scale with product, process and teams.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297680" y="137160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4526280" y="16002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Image 1" descr="FaCoi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7730" y="177165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26280" y="2423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 and LLM cost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26280" y="28346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grows with the corpus and with every user.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8046720" y="137160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3175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75320" y="1600200"/>
            <a:ext cx="685800" cy="6858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5" name="Image 2" descr="FaSync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6770" y="1771650"/>
            <a:ext cx="342900" cy="3429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275320" y="2423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Lint bottleneck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275320" y="28346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is intellectual work. A full re-read will not scale.</a:t>
            </a:r>
            <a:endParaRPr lang="en-US" sz="1400" dirty="0"/>
          </a:p>
        </p:txBody>
      </p:sp>
      <p:sp>
        <p:nvSpPr>
          <p:cNvPr id="18" name="pill"/>
          <p:cNvSpPr/>
          <p:nvPr/>
        </p:nvSpPr>
        <p:spPr>
          <a:xfrm>
            <a:off x="10424160" y="1600200"/>
            <a:ext cx="1005840" cy="27432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10424160" y="16002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slide</a:t>
            </a:r>
            <a:endParaRPr lang="en-US" sz="1100" dirty="0"/>
          </a:p>
        </p:txBody>
      </p:sp>
      <p:sp>
        <p:nvSpPr>
          <p:cNvPr id="20" name="card"/>
          <p:cNvSpPr/>
          <p:nvPr/>
        </p:nvSpPr>
        <p:spPr>
          <a:xfrm>
            <a:off x="548640" y="384048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3175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21" name="icon-circle"/>
          <p:cNvSpPr/>
          <p:nvPr/>
        </p:nvSpPr>
        <p:spPr>
          <a:xfrm>
            <a:off x="777240" y="406908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2" name="Image 3" descr="Fa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90" y="4240530"/>
            <a:ext cx="342900" cy="3429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77240" y="4892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Index and retrieval quality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777240" y="53035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right page gets harder as the wiki grows.</a:t>
            </a:r>
            <a:endParaRPr lang="en-US" sz="1400" dirty="0"/>
          </a:p>
        </p:txBody>
      </p:sp>
      <p:sp>
        <p:nvSpPr>
          <p:cNvPr id="25" name="pill"/>
          <p:cNvSpPr/>
          <p:nvPr/>
        </p:nvSpPr>
        <p:spPr>
          <a:xfrm>
            <a:off x="2926080" y="4069080"/>
            <a:ext cx="100584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2926080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slide</a:t>
            </a:r>
            <a:endParaRPr lang="en-US" sz="1100" dirty="0"/>
          </a:p>
        </p:txBody>
      </p:sp>
      <p:sp>
        <p:nvSpPr>
          <p:cNvPr id="27" name="card"/>
          <p:cNvSpPr/>
          <p:nvPr/>
        </p:nvSpPr>
        <p:spPr>
          <a:xfrm>
            <a:off x="4297680" y="384048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28" name="icon-circle"/>
          <p:cNvSpPr/>
          <p:nvPr/>
        </p:nvSpPr>
        <p:spPr>
          <a:xfrm>
            <a:off x="4526280" y="4069080"/>
            <a:ext cx="685800" cy="6858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9" name="Image 4" descr="FaEy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7730" y="4240530"/>
            <a:ext cx="342900" cy="34290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526280" y="4892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4526280" y="53035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Seeing what agents read, said and missed.</a:t>
            </a:r>
            <a:endParaRPr lang="en-US" sz="1400" dirty="0"/>
          </a:p>
        </p:txBody>
      </p:sp>
      <p:sp>
        <p:nvSpPr>
          <p:cNvPr id="32" name="card"/>
          <p:cNvSpPr/>
          <p:nvPr/>
        </p:nvSpPr>
        <p:spPr>
          <a:xfrm>
            <a:off x="8046720" y="384048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33" name="icon-circle"/>
          <p:cNvSpPr/>
          <p:nvPr/>
        </p:nvSpPr>
        <p:spPr>
          <a:xfrm>
            <a:off x="8275320" y="40690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Image 5" descr="FaVide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6770" y="4240530"/>
            <a:ext cx="342900" cy="34290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275320" y="4892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Multimodal input</a:t>
            </a:r>
            <a:endParaRPr lang="en-US" sz="1800" dirty="0"/>
          </a:p>
        </p:txBody>
      </p:sp>
      <p:sp>
        <p:nvSpPr>
          <p:cNvPr id="36" name="Text 28"/>
          <p:cNvSpPr txBox="1"/>
          <p:nvPr/>
        </p:nvSpPr>
        <p:spPr>
          <a:xfrm>
            <a:off x="8275320" y="53035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Recordings, decks and PDFs, at volume.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 lint and retrieval</a:t>
            </a:r>
            <a:endParaRPr lang="en-US" sz="34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2743200" cy="301752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508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</a:t>
            </a:r>
            <a:endParaRPr lang="en-US" sz="1800" dirty="0"/>
          </a:p>
        </p:txBody>
      </p:sp>
      <p:sp>
        <p:nvSpPr>
          <p:cNvPr id="5" name="page"/>
          <p:cNvSpPr/>
          <p:nvPr/>
        </p:nvSpPr>
        <p:spPr>
          <a:xfrm>
            <a:off x="777240" y="20116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/>
        </p:spPr>
      </p:sp>
      <p:sp>
        <p:nvSpPr>
          <p:cNvPr id="6" name="page"/>
          <p:cNvSpPr/>
          <p:nvPr/>
        </p:nvSpPr>
        <p:spPr>
          <a:xfrm>
            <a:off x="1234440" y="20116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/>
        </p:spPr>
      </p:sp>
      <p:sp>
        <p:nvSpPr>
          <p:cNvPr id="7" name="page"/>
          <p:cNvSpPr/>
          <p:nvPr/>
        </p:nvSpPr>
        <p:spPr>
          <a:xfrm>
            <a:off x="1691640" y="20116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/>
        </p:spPr>
      </p:sp>
      <p:sp>
        <p:nvSpPr>
          <p:cNvPr id="8" name="page"/>
          <p:cNvSpPr/>
          <p:nvPr/>
        </p:nvSpPr>
        <p:spPr>
          <a:xfrm>
            <a:off x="2148840" y="20116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/>
        </p:spPr>
      </p:sp>
      <p:sp>
        <p:nvSpPr>
          <p:cNvPr id="9" name="page"/>
          <p:cNvSpPr/>
          <p:nvPr/>
        </p:nvSpPr>
        <p:spPr>
          <a:xfrm>
            <a:off x="2606040" y="20116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/>
        </p:spPr>
      </p:sp>
      <p:sp>
        <p:nvSpPr>
          <p:cNvPr id="10" name="page"/>
          <p:cNvSpPr/>
          <p:nvPr/>
        </p:nvSpPr>
        <p:spPr>
          <a:xfrm>
            <a:off x="777240" y="24688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/>
        </p:spPr>
      </p:sp>
      <p:sp>
        <p:nvSpPr>
          <p:cNvPr id="11" name="page"/>
          <p:cNvSpPr/>
          <p:nvPr/>
        </p:nvSpPr>
        <p:spPr>
          <a:xfrm>
            <a:off x="1234440" y="24688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/>
        </p:spPr>
      </p:sp>
      <p:sp>
        <p:nvSpPr>
          <p:cNvPr id="12" name="page"/>
          <p:cNvSpPr/>
          <p:nvPr/>
        </p:nvSpPr>
        <p:spPr>
          <a:xfrm>
            <a:off x="1691640" y="24688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/>
        </p:spPr>
      </p:sp>
      <p:sp>
        <p:nvSpPr>
          <p:cNvPr id="13" name="page"/>
          <p:cNvSpPr/>
          <p:nvPr/>
        </p:nvSpPr>
        <p:spPr>
          <a:xfrm>
            <a:off x="2148840" y="24688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/>
        </p:spPr>
      </p:sp>
      <p:sp>
        <p:nvSpPr>
          <p:cNvPr id="14" name="page"/>
          <p:cNvSpPr/>
          <p:nvPr/>
        </p:nvSpPr>
        <p:spPr>
          <a:xfrm>
            <a:off x="2606040" y="24688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/>
        </p:spPr>
      </p:sp>
      <p:sp>
        <p:nvSpPr>
          <p:cNvPr id="15" name="page"/>
          <p:cNvSpPr/>
          <p:nvPr/>
        </p:nvSpPr>
        <p:spPr>
          <a:xfrm>
            <a:off x="777240" y="29260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/>
        </p:spPr>
      </p:sp>
      <p:sp>
        <p:nvSpPr>
          <p:cNvPr id="16" name="page"/>
          <p:cNvSpPr/>
          <p:nvPr/>
        </p:nvSpPr>
        <p:spPr>
          <a:xfrm>
            <a:off x="1234440" y="29260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/>
        </p:spPr>
      </p:sp>
      <p:sp>
        <p:nvSpPr>
          <p:cNvPr id="17" name="page"/>
          <p:cNvSpPr/>
          <p:nvPr/>
        </p:nvSpPr>
        <p:spPr>
          <a:xfrm>
            <a:off x="1691640" y="29260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/>
        </p:spPr>
      </p:sp>
      <p:sp>
        <p:nvSpPr>
          <p:cNvPr id="18" name="page"/>
          <p:cNvSpPr/>
          <p:nvPr/>
        </p:nvSpPr>
        <p:spPr>
          <a:xfrm>
            <a:off x="2148840" y="29260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/>
        </p:spPr>
      </p:sp>
      <p:sp>
        <p:nvSpPr>
          <p:cNvPr id="19" name="page"/>
          <p:cNvSpPr/>
          <p:nvPr/>
        </p:nvSpPr>
        <p:spPr>
          <a:xfrm>
            <a:off x="2606040" y="29260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/>
        </p:spPr>
      </p:sp>
      <p:sp>
        <p:nvSpPr>
          <p:cNvPr id="20" name="page"/>
          <p:cNvSpPr/>
          <p:nvPr/>
        </p:nvSpPr>
        <p:spPr>
          <a:xfrm>
            <a:off x="777240" y="33832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/>
        </p:spPr>
      </p:sp>
      <p:sp>
        <p:nvSpPr>
          <p:cNvPr id="21" name="page"/>
          <p:cNvSpPr/>
          <p:nvPr/>
        </p:nvSpPr>
        <p:spPr>
          <a:xfrm>
            <a:off x="1234440" y="33832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/>
        </p:spPr>
      </p:sp>
      <p:sp>
        <p:nvSpPr>
          <p:cNvPr id="22" name="page"/>
          <p:cNvSpPr/>
          <p:nvPr/>
        </p:nvSpPr>
        <p:spPr>
          <a:xfrm>
            <a:off x="1691640" y="33832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/>
        </p:spPr>
      </p:sp>
      <p:sp>
        <p:nvSpPr>
          <p:cNvPr id="23" name="page"/>
          <p:cNvSpPr/>
          <p:nvPr/>
        </p:nvSpPr>
        <p:spPr>
          <a:xfrm>
            <a:off x="2148840" y="33832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/>
        </p:spPr>
      </p:sp>
      <p:sp>
        <p:nvSpPr>
          <p:cNvPr id="24" name="page"/>
          <p:cNvSpPr/>
          <p:nvPr/>
        </p:nvSpPr>
        <p:spPr>
          <a:xfrm>
            <a:off x="2606040" y="33832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7240" y="3886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ingest re-reads the whole wiki</a:t>
            </a:r>
            <a:endParaRPr lang="en-US" sz="1400" dirty="0"/>
          </a:p>
        </p:txBody>
      </p:sp>
      <p:sp>
        <p:nvSpPr>
          <p:cNvPr id="26" name="connector"/>
          <p:cNvSpPr/>
          <p:nvPr/>
        </p:nvSpPr>
        <p:spPr>
          <a:xfrm>
            <a:off x="3337560" y="2880360"/>
            <a:ext cx="365760" cy="0"/>
          </a:xfrm>
          <a:prstGeom prst="line">
            <a:avLst/>
          </a:prstGeom>
          <a:noFill/>
          <a:ln w="381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7" name="card"/>
          <p:cNvSpPr/>
          <p:nvPr/>
        </p:nvSpPr>
        <p:spPr>
          <a:xfrm>
            <a:off x="3749040" y="1371600"/>
            <a:ext cx="2743200" cy="301752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317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3977640" y="1508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1800" dirty="0"/>
          </a:p>
        </p:txBody>
      </p:sp>
      <p:sp>
        <p:nvSpPr>
          <p:cNvPr id="29" name="page"/>
          <p:cNvSpPr/>
          <p:nvPr/>
        </p:nvSpPr>
        <p:spPr>
          <a:xfrm>
            <a:off x="3977640" y="20116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D3DE"/>
          </a:solidFill>
          <a:ln/>
        </p:spPr>
      </p:sp>
      <p:sp>
        <p:nvSpPr>
          <p:cNvPr id="30" name="page"/>
          <p:cNvSpPr/>
          <p:nvPr/>
        </p:nvSpPr>
        <p:spPr>
          <a:xfrm>
            <a:off x="4434840" y="20116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D3DE"/>
          </a:solidFill>
          <a:ln/>
        </p:spPr>
      </p:sp>
      <p:sp>
        <p:nvSpPr>
          <p:cNvPr id="31" name="page"/>
          <p:cNvSpPr/>
          <p:nvPr/>
        </p:nvSpPr>
        <p:spPr>
          <a:xfrm>
            <a:off x="4892040" y="20116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D3DE"/>
          </a:solidFill>
          <a:ln/>
        </p:spPr>
      </p:sp>
      <p:sp>
        <p:nvSpPr>
          <p:cNvPr id="32" name="page"/>
          <p:cNvSpPr/>
          <p:nvPr/>
        </p:nvSpPr>
        <p:spPr>
          <a:xfrm>
            <a:off x="5349240" y="20116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D3DE"/>
          </a:solidFill>
          <a:ln/>
        </p:spPr>
      </p:sp>
      <p:sp>
        <p:nvSpPr>
          <p:cNvPr id="33" name="page"/>
          <p:cNvSpPr/>
          <p:nvPr/>
        </p:nvSpPr>
        <p:spPr>
          <a:xfrm>
            <a:off x="5806440" y="20116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D3DE"/>
          </a:solidFill>
          <a:ln/>
        </p:spPr>
      </p:sp>
      <p:sp>
        <p:nvSpPr>
          <p:cNvPr id="34" name="page"/>
          <p:cNvSpPr/>
          <p:nvPr/>
        </p:nvSpPr>
        <p:spPr>
          <a:xfrm>
            <a:off x="3977640" y="24688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D3DE"/>
          </a:solidFill>
          <a:ln/>
        </p:spPr>
      </p:sp>
      <p:sp>
        <p:nvSpPr>
          <p:cNvPr id="35" name="page"/>
          <p:cNvSpPr/>
          <p:nvPr/>
        </p:nvSpPr>
        <p:spPr>
          <a:xfrm>
            <a:off x="4434840" y="24688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D3DE"/>
          </a:solidFill>
          <a:ln/>
        </p:spPr>
      </p:sp>
      <p:sp>
        <p:nvSpPr>
          <p:cNvPr id="36" name="page"/>
          <p:cNvSpPr/>
          <p:nvPr/>
        </p:nvSpPr>
        <p:spPr>
          <a:xfrm>
            <a:off x="4892040" y="24688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/>
        </p:spPr>
      </p:sp>
      <p:sp>
        <p:nvSpPr>
          <p:cNvPr id="37" name="page"/>
          <p:cNvSpPr/>
          <p:nvPr/>
        </p:nvSpPr>
        <p:spPr>
          <a:xfrm>
            <a:off x="5349240" y="24688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D3DE"/>
          </a:solidFill>
          <a:ln/>
        </p:spPr>
      </p:sp>
      <p:sp>
        <p:nvSpPr>
          <p:cNvPr id="38" name="page"/>
          <p:cNvSpPr/>
          <p:nvPr/>
        </p:nvSpPr>
        <p:spPr>
          <a:xfrm>
            <a:off x="5806440" y="24688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D3DE"/>
          </a:solidFill>
          <a:ln/>
        </p:spPr>
      </p:sp>
      <p:sp>
        <p:nvSpPr>
          <p:cNvPr id="39" name="page"/>
          <p:cNvSpPr/>
          <p:nvPr/>
        </p:nvSpPr>
        <p:spPr>
          <a:xfrm>
            <a:off x="3977640" y="29260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D3DE"/>
          </a:solidFill>
          <a:ln/>
        </p:spPr>
      </p:sp>
      <p:sp>
        <p:nvSpPr>
          <p:cNvPr id="40" name="page"/>
          <p:cNvSpPr/>
          <p:nvPr/>
        </p:nvSpPr>
        <p:spPr>
          <a:xfrm>
            <a:off x="4434840" y="29260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D3DE"/>
          </a:solidFill>
          <a:ln/>
        </p:spPr>
      </p:sp>
      <p:sp>
        <p:nvSpPr>
          <p:cNvPr id="41" name="page"/>
          <p:cNvSpPr/>
          <p:nvPr/>
        </p:nvSpPr>
        <p:spPr>
          <a:xfrm>
            <a:off x="4892040" y="29260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D3DE"/>
          </a:solidFill>
          <a:ln/>
        </p:spPr>
      </p:sp>
      <p:sp>
        <p:nvSpPr>
          <p:cNvPr id="42" name="page"/>
          <p:cNvSpPr/>
          <p:nvPr/>
        </p:nvSpPr>
        <p:spPr>
          <a:xfrm>
            <a:off x="5349240" y="29260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D3DE"/>
          </a:solidFill>
          <a:ln/>
        </p:spPr>
      </p:sp>
      <p:sp>
        <p:nvSpPr>
          <p:cNvPr id="43" name="page"/>
          <p:cNvSpPr/>
          <p:nvPr/>
        </p:nvSpPr>
        <p:spPr>
          <a:xfrm>
            <a:off x="5806440" y="29260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D3DE"/>
          </a:solidFill>
          <a:ln/>
        </p:spPr>
      </p:sp>
      <p:sp>
        <p:nvSpPr>
          <p:cNvPr id="44" name="page"/>
          <p:cNvSpPr/>
          <p:nvPr/>
        </p:nvSpPr>
        <p:spPr>
          <a:xfrm>
            <a:off x="3977640" y="3383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D3DE"/>
          </a:solidFill>
          <a:ln/>
        </p:spPr>
      </p:sp>
      <p:sp>
        <p:nvSpPr>
          <p:cNvPr id="45" name="page"/>
          <p:cNvSpPr/>
          <p:nvPr/>
        </p:nvSpPr>
        <p:spPr>
          <a:xfrm>
            <a:off x="4434840" y="3383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D3DE"/>
          </a:solidFill>
          <a:ln/>
        </p:spPr>
      </p:sp>
      <p:sp>
        <p:nvSpPr>
          <p:cNvPr id="46" name="page"/>
          <p:cNvSpPr/>
          <p:nvPr/>
        </p:nvSpPr>
        <p:spPr>
          <a:xfrm>
            <a:off x="4892040" y="3383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D3DE"/>
          </a:solidFill>
          <a:ln/>
        </p:spPr>
      </p:sp>
      <p:sp>
        <p:nvSpPr>
          <p:cNvPr id="47" name="page"/>
          <p:cNvSpPr/>
          <p:nvPr/>
        </p:nvSpPr>
        <p:spPr>
          <a:xfrm>
            <a:off x="5349240" y="3383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D3DE"/>
          </a:solidFill>
          <a:ln/>
        </p:spPr>
      </p:sp>
      <p:sp>
        <p:nvSpPr>
          <p:cNvPr id="48" name="page"/>
          <p:cNvSpPr/>
          <p:nvPr/>
        </p:nvSpPr>
        <p:spPr>
          <a:xfrm>
            <a:off x="5806440" y="3383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D3D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77640" y="3886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ingest re-checks only the changed source</a:t>
            </a:r>
            <a:endParaRPr lang="en-US" sz="1400" dirty="0"/>
          </a:p>
        </p:txBody>
      </p:sp>
      <p:sp>
        <p:nvSpPr>
          <p:cNvPr id="50" name="card"/>
          <p:cNvSpPr/>
          <p:nvPr/>
        </p:nvSpPr>
        <p:spPr>
          <a:xfrm>
            <a:off x="6858000" y="1371600"/>
            <a:ext cx="475488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51" name="icon-circle"/>
          <p:cNvSpPr/>
          <p:nvPr/>
        </p:nvSpPr>
        <p:spPr>
          <a:xfrm>
            <a:off x="7040880" y="1554480"/>
            <a:ext cx="594360" cy="59436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52" name="Image 0" descr="FaCheck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89470" y="1703070"/>
            <a:ext cx="297180" cy="297180"/>
          </a:xfrm>
          <a:prstGeom prst="rect">
            <a:avLst/>
          </a:prstGeom>
        </p:spPr>
      </p:pic>
      <p:sp>
        <p:nvSpPr>
          <p:cNvPr id="53" name="Text 50"/>
          <p:cNvSpPr txBox="1"/>
          <p:nvPr/>
        </p:nvSpPr>
        <p:spPr>
          <a:xfrm>
            <a:off x="7818120" y="14813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Lint</a:t>
            </a:r>
            <a:endParaRPr lang="en-US" sz="1800" dirty="0"/>
          </a:p>
        </p:txBody>
      </p:sp>
      <p:sp>
        <p:nvSpPr>
          <p:cNvPr id="54" name="Text 51"/>
          <p:cNvSpPr txBox="1"/>
          <p:nvPr/>
        </p:nvSpPr>
        <p:spPr>
          <a:xfrm>
            <a:off x="7818120" y="18745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deterministic pass/fail check on claim records, not a model grading itself. The LLM only proposes fixes. A human signs off.</a:t>
            </a:r>
            <a:endParaRPr lang="en-US" sz="1400" dirty="0"/>
          </a:p>
        </p:txBody>
      </p:sp>
      <p:sp>
        <p:nvSpPr>
          <p:cNvPr id="55" name="card"/>
          <p:cNvSpPr/>
          <p:nvPr/>
        </p:nvSpPr>
        <p:spPr>
          <a:xfrm>
            <a:off x="6858000" y="2971800"/>
            <a:ext cx="475488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56" name="icon-circle"/>
          <p:cNvSpPr/>
          <p:nvPr/>
        </p:nvSpPr>
        <p:spPr>
          <a:xfrm>
            <a:off x="7040880" y="315468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7" name="Image 1" descr="FaSea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9470" y="3303270"/>
            <a:ext cx="297180" cy="297180"/>
          </a:xfrm>
          <a:prstGeom prst="rect">
            <a:avLst/>
          </a:prstGeom>
        </p:spPr>
      </p:pic>
      <p:sp>
        <p:nvSpPr>
          <p:cNvPr id="58" name="Text 54"/>
          <p:cNvSpPr txBox="1"/>
          <p:nvPr/>
        </p:nvSpPr>
        <p:spPr>
          <a:xfrm>
            <a:off x="7818120" y="3081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Retrieval</a:t>
            </a:r>
            <a:endParaRPr lang="en-US" sz="1800" dirty="0"/>
          </a:p>
        </p:txBody>
      </p:sp>
      <p:sp>
        <p:nvSpPr>
          <p:cNvPr id="59" name="Text 55"/>
          <p:cNvSpPr txBox="1"/>
          <p:nvPr/>
        </p:nvSpPr>
        <p:spPr>
          <a:xfrm>
            <a:off x="7818120" y="34747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Index-first navigation today. Add hybrid search as the wiki grows. Retrieval fetches passages. It never decides alignment.</a:t>
            </a:r>
            <a:endParaRPr lang="en-US" sz="1400" dirty="0"/>
          </a:p>
        </p:txBody>
      </p:sp>
      <p:sp>
        <p:nvSpPr>
          <p:cNvPr id="60" name="callout"/>
          <p:cNvSpPr/>
          <p:nvPr/>
        </p:nvSpPr>
        <p:spPr>
          <a:xfrm>
            <a:off x="548640" y="4754880"/>
            <a:ext cx="11064240" cy="1188720"/>
          </a:xfrm>
          <a:prstGeom prst="roundRect">
            <a:avLst>
              <a:gd name="adj" fmla="val 9231"/>
            </a:avLst>
          </a:prstGeom>
          <a:solidFill>
            <a:schemeClr val="tx1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548640" y="47548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follows the size of the change, not the size of the corpus.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Opportunities in the Cognite ecosystem</a:t>
            </a:r>
            <a:endParaRPr lang="en-US" sz="34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3566160" cy="438912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822960" y="16459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Fa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6459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CDF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2608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CDF project is one more source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Model, pipelines and code are ingested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by default</a:t>
            </a:r>
            <a:endParaRPr lang="en-US" sz="1800" dirty="0"/>
          </a:p>
        </p:txBody>
      </p:sp>
      <p:sp>
        <p:nvSpPr>
          <p:cNvPr id="8" name="card"/>
          <p:cNvSpPr/>
          <p:nvPr/>
        </p:nvSpPr>
        <p:spPr>
          <a:xfrm>
            <a:off x="4297680" y="1371600"/>
            <a:ext cx="3566160" cy="438912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4572000" y="164592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Image 1" descr="FaLayerGro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745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669280" y="16459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Flows apps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92608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AdaptPro as a Flows custom app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 or panel inside a Flows app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service that Flows apps call via API</a:t>
            </a:r>
            <a:endParaRPr lang="en-US" sz="1800" dirty="0"/>
          </a:p>
        </p:txBody>
      </p:sp>
      <p:sp>
        <p:nvSpPr>
          <p:cNvPr id="13" name="card"/>
          <p:cNvSpPr/>
          <p:nvPr/>
        </p:nvSpPr>
        <p:spPr>
          <a:xfrm>
            <a:off x="8046720" y="1371600"/>
            <a:ext cx="3566160" cy="438912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321040" y="1645920"/>
            <a:ext cx="914400" cy="9144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5" name="Image 2" descr="FaB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187452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418320" y="16459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Atlas AI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92608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plugin, skill or subagent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root-cause analysis the engagement's persona pages and open topics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beyond the incident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Cognite</a:t>
            </a:r>
            <a:endParaRPr lang="en-US" sz="3400" dirty="0"/>
          </a:p>
        </p:txBody>
      </p:sp>
      <p:sp>
        <p:nvSpPr>
          <p:cNvPr id="3" name="connector"/>
          <p:cNvSpPr/>
          <p:nvPr/>
        </p:nvSpPr>
        <p:spPr>
          <a:xfrm flipV="1">
            <a:off x="6099048" y="1828800"/>
            <a:ext cx="0" cy="201168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4" name="connector"/>
          <p:cNvSpPr/>
          <p:nvPr/>
        </p:nvSpPr>
        <p:spPr>
          <a:xfrm flipV="1">
            <a:off x="6099048" y="3218837"/>
            <a:ext cx="3652514" cy="621643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5" name="connector"/>
          <p:cNvSpPr/>
          <p:nvPr/>
        </p:nvSpPr>
        <p:spPr>
          <a:xfrm>
            <a:off x="6099048" y="3840480"/>
            <a:ext cx="2257378" cy="1627483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6" name="connector"/>
          <p:cNvSpPr/>
          <p:nvPr/>
        </p:nvSpPr>
        <p:spPr>
          <a:xfrm flipH="1">
            <a:off x="3841670" y="3840480"/>
            <a:ext cx="2257378" cy="1627483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7" name="connector"/>
          <p:cNvSpPr/>
          <p:nvPr/>
        </p:nvSpPr>
        <p:spPr>
          <a:xfrm flipH="1" flipV="1">
            <a:off x="2446534" y="3218837"/>
            <a:ext cx="3652514" cy="621643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8" name="icon-circle"/>
          <p:cNvSpPr/>
          <p:nvPr/>
        </p:nvSpPr>
        <p:spPr>
          <a:xfrm>
            <a:off x="5276088" y="3017520"/>
            <a:ext cx="1645920" cy="1645920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276088" y="3017520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AdaptPro</a:t>
            </a:r>
            <a:endParaRPr lang="en-US" sz="2000" dirty="0"/>
          </a:p>
        </p:txBody>
      </p:sp>
      <p:sp>
        <p:nvSpPr>
          <p:cNvPr id="10" name="node-0"/>
          <p:cNvSpPr/>
          <p:nvPr/>
        </p:nvSpPr>
        <p:spPr>
          <a:xfrm>
            <a:off x="4544568" y="1280160"/>
            <a:ext cx="310896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81728" y="15544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0" descr="FaUserPl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8888" y="1691640"/>
            <a:ext cx="274320" cy="2743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367528" y="1371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Onboarding assistant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367528" y="17556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stakeholders, up to speed</a:t>
            </a:r>
            <a:endParaRPr lang="en-US" sz="1400" dirty="0"/>
          </a:p>
        </p:txBody>
      </p:sp>
      <p:sp>
        <p:nvSpPr>
          <p:cNvPr id="15" name="node-1"/>
          <p:cNvSpPr/>
          <p:nvPr/>
        </p:nvSpPr>
        <p:spPr>
          <a:xfrm>
            <a:off x="8197082" y="2670197"/>
            <a:ext cx="310896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16" name="icon-circle"/>
          <p:cNvSpPr/>
          <p:nvPr/>
        </p:nvSpPr>
        <p:spPr>
          <a:xfrm>
            <a:off x="8334242" y="2944517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Image 1" descr="FaCalendar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1402" y="3081677"/>
            <a:ext cx="274320" cy="2743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9020042" y="2761637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Meeting assistant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9020042" y="3145685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during and after</a:t>
            </a:r>
            <a:endParaRPr lang="en-US" sz="1400" dirty="0"/>
          </a:p>
        </p:txBody>
      </p:sp>
      <p:sp>
        <p:nvSpPr>
          <p:cNvPr id="20" name="node-2"/>
          <p:cNvSpPr/>
          <p:nvPr/>
        </p:nvSpPr>
        <p:spPr>
          <a:xfrm>
            <a:off x="6801946" y="4919323"/>
            <a:ext cx="310896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21" name="icon-circle"/>
          <p:cNvSpPr/>
          <p:nvPr/>
        </p:nvSpPr>
        <p:spPr>
          <a:xfrm>
            <a:off x="6939106" y="5193643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2" name="Image 2" descr="FaGav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6266" y="5330803"/>
            <a:ext cx="274320" cy="27432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624906" y="5010763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audit trail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624906" y="5394811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Why, what, where, how, when</a:t>
            </a:r>
            <a:endParaRPr lang="en-US" sz="1400" dirty="0"/>
          </a:p>
        </p:txBody>
      </p:sp>
      <p:sp>
        <p:nvSpPr>
          <p:cNvPr id="25" name="node-3"/>
          <p:cNvSpPr/>
          <p:nvPr/>
        </p:nvSpPr>
        <p:spPr>
          <a:xfrm>
            <a:off x="2287190" y="4919323"/>
            <a:ext cx="310896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26" name="icon-circle"/>
          <p:cNvSpPr/>
          <p:nvPr/>
        </p:nvSpPr>
        <p:spPr>
          <a:xfrm>
            <a:off x="2424350" y="5193643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7" name="Image 3" descr="Fa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1510" y="5330803"/>
            <a:ext cx="274320" cy="27432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3110150" y="5010763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Conflict mediator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3110150" y="5394811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personas' decisions clash</a:t>
            </a:r>
            <a:endParaRPr lang="en-US" sz="1400" dirty="0"/>
          </a:p>
        </p:txBody>
      </p:sp>
      <p:sp>
        <p:nvSpPr>
          <p:cNvPr id="30" name="node-4"/>
          <p:cNvSpPr/>
          <p:nvPr/>
        </p:nvSpPr>
        <p:spPr>
          <a:xfrm>
            <a:off x="892054" y="2670197"/>
            <a:ext cx="310896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31" name="icon-circle"/>
          <p:cNvSpPr/>
          <p:nvPr/>
        </p:nvSpPr>
        <p:spPr>
          <a:xfrm>
            <a:off x="1029214" y="2944517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2" name="Image 4" descr="FaBuild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6374" y="3081677"/>
            <a:ext cx="274320" cy="27432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1715014" y="2761637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 knowledge builder</a:t>
            </a:r>
            <a:endParaRPr lang="en-US" sz="1600" dirty="0"/>
          </a:p>
        </p:txBody>
      </p:sp>
      <p:sp>
        <p:nvSpPr>
          <p:cNvPr id="34" name="Text 27"/>
          <p:cNvSpPr txBox="1"/>
          <p:nvPr/>
        </p:nvSpPr>
        <p:spPr>
          <a:xfrm>
            <a:off x="1715014" y="3145685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memory of decisions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open risks</a:t>
            </a:r>
            <a:endParaRPr lang="en-US" sz="34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26517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777240" y="160020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5" name="Image 0" descr="Fa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1748790"/>
            <a:ext cx="297180" cy="2971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331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exposure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7432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customers let AI systems build a knowledge graph on their data?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355848" y="1371600"/>
            <a:ext cx="26517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3584448" y="160020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mage 1" descr="FaRo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3038" y="1748790"/>
            <a:ext cx="297180" cy="2971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84448" y="2331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Over-reliance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584448" y="27432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inform. They must not make the decision.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163056" y="1371600"/>
            <a:ext cx="26517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6391656" y="1600200"/>
            <a:ext cx="594360" cy="59436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5" name="Image 2" descr="FaShield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246" y="1748790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91656" y="2331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Cyber risk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391656" y="27432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Pulling data from many sources widens the attack surface.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8970264" y="1371600"/>
            <a:ext cx="26517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9198864" y="160020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Image 3" descr="FaUserSecr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7454" y="1748790"/>
            <a:ext cx="297180" cy="2971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98864" y="2331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Surveillance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198864" y="27432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Chats and email in a KB can feel like monitoring.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3794760"/>
            <a:ext cx="26517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77240" y="4023360"/>
            <a:ext cx="594360" cy="59436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5" name="Image 4" descr="FaGave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830" y="4171950"/>
            <a:ext cx="297180" cy="2971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77240" y="4754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Conflict ownership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777240" y="51663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resolves a clash between personas?</a:t>
            </a:r>
            <a:endParaRPr lang="en-US" sz="1400" dirty="0"/>
          </a:p>
        </p:txBody>
      </p:sp>
      <p:sp>
        <p:nvSpPr>
          <p:cNvPr id="28" name="card"/>
          <p:cNvSpPr/>
          <p:nvPr/>
        </p:nvSpPr>
        <p:spPr>
          <a:xfrm>
            <a:off x="3355848" y="3794760"/>
            <a:ext cx="26517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3584448" y="402336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Image 5" descr="FaFla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3038" y="4171950"/>
            <a:ext cx="297180" cy="29718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584448" y="4754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Source-of-truth fights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3584448" y="51663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source wins when they disagree?</a:t>
            </a:r>
            <a:endParaRPr lang="en-US" sz="1400" dirty="0"/>
          </a:p>
        </p:txBody>
      </p:sp>
      <p:sp>
        <p:nvSpPr>
          <p:cNvPr id="33" name="card"/>
          <p:cNvSpPr/>
          <p:nvPr/>
        </p:nvSpPr>
        <p:spPr>
          <a:xfrm>
            <a:off x="6163056" y="3794760"/>
            <a:ext cx="26517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F1B2D">
                <a:alpha val="12000"/>
              </a:srgbClr>
            </a:outerShdw>
          </a:effectLst>
        </p:spPr>
      </p:sp>
      <p:sp>
        <p:nvSpPr>
          <p:cNvPr id="34" name="icon-circle"/>
          <p:cNvSpPr/>
          <p:nvPr/>
        </p:nvSpPr>
        <p:spPr>
          <a:xfrm>
            <a:off x="6391656" y="402336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5" name="Image 6" descr="FaCoin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0246" y="4171950"/>
            <a:ext cx="297180" cy="29718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6391656" y="4754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at scale</a:t>
            </a:r>
            <a:endParaRPr lang="en-US" sz="1800" dirty="0"/>
          </a:p>
        </p:txBody>
      </p:sp>
      <p:sp>
        <p:nvSpPr>
          <p:cNvPr id="37" name="Text 28"/>
          <p:cNvSpPr txBox="1"/>
          <p:nvPr/>
        </p:nvSpPr>
        <p:spPr>
          <a:xfrm>
            <a:off x="6391656" y="51663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and review time grow with the wiki.</a:t>
            </a:r>
            <a:endParaRPr lang="en-US" sz="1400" dirty="0"/>
          </a:p>
        </p:txBody>
      </p:sp>
      <p:sp>
        <p:nvSpPr>
          <p:cNvPr id="38" name="callout"/>
          <p:cNvSpPr/>
          <p:nvPr/>
        </p:nvSpPr>
        <p:spPr>
          <a:xfrm>
            <a:off x="8970264" y="3794760"/>
            <a:ext cx="2651760" cy="2240280"/>
          </a:xfrm>
          <a:prstGeom prst="roundRect">
            <a:avLst>
              <a:gd name="adj" fmla="val 4898"/>
            </a:avLst>
          </a:prstGeom>
          <a:solidFill>
            <a:schemeClr val="tx1"/>
          </a:solidFill>
          <a:ln/>
        </p:spPr>
      </p:sp>
      <p:sp>
        <p:nvSpPr>
          <p:cNvPr id="39" name="Text 30"/>
          <p:cNvSpPr txBox="1"/>
          <p:nvPr/>
        </p:nvSpPr>
        <p:spPr>
          <a:xfrm>
            <a:off x="8970264" y="3794760"/>
            <a:ext cx="26517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 inform.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Humans decide.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ing-text"/>
          <p:cNvSpPr txBox="1"/>
          <p:nvPr/>
        </p:nvSpPr>
        <p:spPr>
          <a:xfrm>
            <a:off x="731520" y="1783080"/>
            <a:ext cx="59436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</a:p>
          <a:p>
            <a:pPr indent="0" marL="0">
              <a:spcBef>
                <a:spcPts val="9000"/>
              </a:spcBef>
              <a:buNone/>
            </a:pPr>
            <a:r>
              <a: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knowledge base first. The agents are only as good as what it knows.</a:t>
            </a:r>
          </a:p>
          <a:p>
            <a:pPr indent="0" marL="0">
              <a:spcBef>
                <a:spcPts val="4500"/>
              </a:spcBef>
              <a:buNone/>
            </a:pPr>
            <a:r>
              <a:rPr lang="en-US" sz="1600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https://github.com/Pranav-Cognite/AdaptPro</a:t>
            </a:r>
          </a:p>
        </p:txBody>
      </p:sp>
      <p:sp>
        <p:nvSpPr>
          <p:cNvPr id="5" name="venn-business"/>
          <p:cNvSpPr/>
          <p:nvPr/>
        </p:nvSpPr>
        <p:spPr>
          <a:xfrm>
            <a:off x="7635240" y="2788920"/>
            <a:ext cx="2011680" cy="2011680"/>
          </a:xfrm>
          <a:prstGeom prst="ellipse">
            <a:avLst/>
          </a:prstGeom>
          <a:solidFill>
            <a:schemeClr val="accent2">
              <a:alpha val="75000"/>
            </a:schemeClr>
          </a:solidFill>
          <a:ln/>
        </p:spPr>
      </p:sp>
      <p:sp>
        <p:nvSpPr>
          <p:cNvPr id="6" name="venn-tech"/>
          <p:cNvSpPr/>
          <p:nvPr/>
        </p:nvSpPr>
        <p:spPr>
          <a:xfrm>
            <a:off x="9006840" y="2788920"/>
            <a:ext cx="2011680" cy="2011680"/>
          </a:xfrm>
          <a:prstGeom prst="ellipse">
            <a:avLst/>
          </a:prstGeom>
          <a:solidFill>
            <a:schemeClr val="accent3">
              <a:alpha val="75000"/>
            </a:schemeClr>
          </a:solidFill>
          <a:ln/>
        </p:spPr>
      </p:sp>
      <p:sp>
        <p:nvSpPr>
          <p:cNvPr id="7" name="venn-product"/>
          <p:cNvSpPr/>
          <p:nvPr/>
        </p:nvSpPr>
        <p:spPr>
          <a:xfrm>
            <a:off x="8321040" y="1691640"/>
            <a:ext cx="2011680" cy="2011680"/>
          </a:xfrm>
          <a:prstGeom prst="ellipse">
            <a:avLst/>
          </a:prstGeom>
          <a:solidFill>
            <a:schemeClr val="accent1">
              <a:alpha val="75000"/>
            </a:schemeClr>
          </a:solidFill>
          <a:ln/>
        </p:spPr>
      </p:sp>
      <p:sp>
        <p:nvSpPr>
          <p:cNvPr id="8" name="venn-kb"/>
          <p:cNvSpPr/>
          <p:nvPr/>
        </p:nvSpPr>
        <p:spPr>
          <a:xfrm>
            <a:off x="8915400" y="3108960"/>
            <a:ext cx="822960" cy="822960"/>
          </a:xfrm>
          <a:prstGeom prst="ellipse">
            <a:avLst/>
          </a:prstGeom>
          <a:solidFill>
            <a:srgbClr val="0F1B2D"/>
          </a:solidFill>
          <a:ln/>
        </p:spPr>
      </p:sp>
      <p:pic>
        <p:nvPicPr>
          <p:cNvPr id="9" name="Image 0" descr="Fa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21140" y="331470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Demo: the agent asks which meeting</a:t>
            </a:r>
            <a:endParaRPr lang="en-US" sz="3000" dirty="0"/>
          </a:p>
        </p:txBody>
      </p:sp>
      <p:pic>
        <p:nvPicPr>
          <p:cNvPr id="3" name="demo-screenshot-2" descr="Terminal: meeting type question with scoping session with Product highligh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3880" y="1280160"/>
            <a:ext cx="11064240" cy="3878016"/>
          </a:xfrm>
          <a:prstGeom prst="rect">
            <a:avLst/>
          </a:prstGeom>
          <a:ln w="9525">
            <a:solidFill>
              <a:srgbClr val="D0D5DD"/>
            </a:solidFill>
          </a:ln>
        </p:spPr>
      </p:pic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Demo: the agent asks what you want to leave with</a:t>
            </a:r>
            <a:endParaRPr lang="en-US" sz="3000" dirty="0"/>
          </a:p>
        </p:txBody>
      </p:sp>
      <p:pic>
        <p:nvPicPr>
          <p:cNvPr id="3" name="demo-screenshot-3" descr="Terminal: outcome question with sharp discovery questions highligh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3880" y="1280160"/>
            <a:ext cx="11064240" cy="3861419"/>
          </a:xfrm>
          <a:prstGeom prst="rect">
            <a:avLst/>
          </a:prstGeom>
          <a:ln w="9525">
            <a:solidFill>
              <a:srgbClr val="D0D5DD"/>
            </a:solidFill>
          </a:ln>
        </p:spPr>
      </p:pic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Demo: a question grounded in an open wiki gap</a:t>
            </a:r>
            <a:endParaRPr lang="en-US" sz="3000" dirty="0"/>
          </a:p>
        </p:txBody>
      </p:sp>
      <p:pic>
        <p:nvPicPr>
          <p:cNvPr id="3" name="demo-screenshot-4" descr="Terminal: focus gap question about open Topic 1 and Topic 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3880" y="1280160"/>
            <a:ext cx="11064240" cy="2190719"/>
          </a:xfrm>
          <a:prstGeom prst="rect">
            <a:avLst/>
          </a:prstGeom>
          <a:ln w="9525">
            <a:solidFill>
              <a:srgbClr val="D0D5DD"/>
            </a:solidFill>
          </a:ln>
        </p:spPr>
      </p:pic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Demo: review the answers and submit</a:t>
            </a:r>
            <a:endParaRPr lang="en-US" sz="3000" dirty="0"/>
          </a:p>
        </p:txBody>
      </p:sp>
      <p:pic>
        <p:nvPicPr>
          <p:cNvPr id="3" name="demo-screenshot-5" descr="Terminal: review your answers screen with submit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3880" y="1280160"/>
            <a:ext cx="11064240" cy="2251572"/>
          </a:xfrm>
          <a:prstGeom prst="rect">
            <a:avLst/>
          </a:prstGeom>
          <a:ln w="9525">
            <a:solidFill>
              <a:srgbClr val="D0D5DD"/>
            </a:solidFill>
          </a:ln>
        </p:spPr>
      </p:pic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Demo: section 1, cited to wiki pages</a:t>
            </a:r>
            <a:endParaRPr lang="en-US" sz="3000" dirty="0"/>
          </a:p>
        </p:txBody>
      </p:sp>
      <p:pic>
        <p:nvPicPr>
          <p:cNvPr id="3" name="demo-screenshot-6" descr="Terminal: section 1 of the brief spoken as Business, with wiki citations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34346" y="1280160"/>
            <a:ext cx="9323308" cy="4959999"/>
          </a:xfrm>
          <a:prstGeom prst="rect">
            <a:avLst/>
          </a:prstGeom>
          <a:ln w="9525">
            <a:solidFill>
              <a:srgbClr val="D0D5DD"/>
            </a:solidFill>
          </a:ln>
        </p:spPr>
      </p:pic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Demo: a check-in after every section</a:t>
            </a:r>
            <a:endParaRPr lang="en-US" sz="3000" dirty="0"/>
          </a:p>
        </p:txBody>
      </p:sp>
      <p:pic>
        <p:nvPicPr>
          <p:cNvPr id="3" name="demo-screenshot-7" descr="Terminal: next step check-in with role-play highligh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3880" y="1280160"/>
            <a:ext cx="11064240" cy="2251572"/>
          </a:xfrm>
          <a:prstGeom prst="rect">
            <a:avLst/>
          </a:prstGeom>
          <a:ln w="9525">
            <a:solidFill>
              <a:srgbClr val="D0D5DD"/>
            </a:solidFill>
          </a:ln>
        </p:spPr>
      </p:pic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Demo: choose who to role-play</a:t>
            </a:r>
            <a:endParaRPr lang="en-US" sz="3000" dirty="0"/>
          </a:p>
        </p:txBody>
      </p:sp>
      <p:pic>
        <p:nvPicPr>
          <p:cNvPr id="3" name="demo-screenshot-8" descr="Terminal: choose which persona to role-play, Plant Operator highligh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3880" y="1280160"/>
            <a:ext cx="11064240" cy="2179655"/>
          </a:xfrm>
          <a:prstGeom prst="rect">
            <a:avLst/>
          </a:prstGeom>
          <a:ln w="9525">
            <a:solidFill>
              <a:srgbClr val="D0D5DD"/>
            </a:solidFill>
          </a:ln>
        </p:spPr>
      </p:pic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Demo: role-play, answers only from the wiki</a:t>
            </a:r>
            <a:endParaRPr lang="en-US" sz="3000" dirty="0"/>
          </a:p>
        </p:txBody>
      </p:sp>
      <p:pic>
        <p:nvPicPr>
          <p:cNvPr id="3" name="demo-screenshot-9" descr="Terminal: Plant Operator role-play answer citing wiki pages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899" y="1280160"/>
            <a:ext cx="10020202" cy="4959999"/>
          </a:xfrm>
          <a:prstGeom prst="rect">
            <a:avLst/>
          </a:prstGeom>
          <a:ln w="9525">
            <a:solidFill>
              <a:srgbClr val="D0D5DD"/>
            </a:solidFill>
          </a:ln>
        </p:spPr>
      </p:pic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Demo: pick your first discovery question</a:t>
            </a:r>
            <a:endParaRPr lang="en-US" sz="3000" dirty="0"/>
          </a:p>
        </p:txBody>
      </p:sp>
      <p:pic>
        <p:nvPicPr>
          <p:cNvPr id="3" name="demo-screenshot-10" descr="Terminal: first discovery question options for the Plant Operator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3880" y="1280160"/>
            <a:ext cx="11064240" cy="1980498"/>
          </a:xfrm>
          <a:prstGeom prst="rect">
            <a:avLst/>
          </a:prstGeom>
          <a:ln w="9525">
            <a:solidFill>
              <a:srgbClr val="D0D5DD"/>
            </a:solidFill>
          </a:ln>
        </p:spPr>
      </p:pic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Demo: next step after the role-play</a:t>
            </a:r>
            <a:endParaRPr lang="en-US" sz="3000" dirty="0"/>
          </a:p>
        </p:txBody>
      </p:sp>
      <p:pic>
        <p:nvPicPr>
          <p:cNvPr id="3" name="demo-screenshot-11" descr="Terminal: next step check-in with skip to the questions highligh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3880" y="1280160"/>
            <a:ext cx="11064240" cy="2273701"/>
          </a:xfrm>
          <a:prstGeom prst="rect">
            <a:avLst/>
          </a:prstGeom>
          <a:ln w="9525">
            <a:solidFill>
              <a:srgbClr val="D0D5DD"/>
            </a:solidFill>
          </a:ln>
        </p:spPr>
      </p:pic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Demo: the discovery questions, each with a reason</a:t>
            </a:r>
            <a:endParaRPr lang="en-US" sz="3000" dirty="0"/>
          </a:p>
        </p:txBody>
      </p:sp>
      <p:pic>
        <p:nvPicPr>
          <p:cNvPr id="3" name="demo-screenshot-12" descr="Terminal: five discovery questions with why ask and a good answer settles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08355" y="1280160"/>
            <a:ext cx="9575289" cy="4959999"/>
          </a:xfrm>
          <a:prstGeom prst="rect">
            <a:avLst/>
          </a:prstGeom>
          <a:ln w="9525">
            <a:solidFill>
              <a:srgbClr val="D0D5DD"/>
            </a:solidFill>
          </a:ln>
        </p:spPr>
      </p:pic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recording</a:t>
            </a:r>
            <a:endParaRPr lang="en-US" sz="3400" dirty="0"/>
          </a:p>
        </p:txBody>
      </p:sp>
      <p:pic>
        <p:nvPicPr>
          <p:cNvPr id="10" name="Demo recording" descr="Screen recording of the AdaptPro demo">
            <a:hlinkClick r:id="" action="ppaction://media"/>
          </p:cNvPr>
          <p:cNvPicPr>
            <a:picLocks noChangeAspect="1"/>
          </p:cNvPicPr>
          <p:nvPr>
            <a:videoFile r:link="rId20"/>
            <p:extLst>
              <p:ext uri="{DAA4B4D4-6D71-4841-9C94-3DE7FCFB9230}">
                <p14:media xmlns:p14="http://schemas.microsoft.com/office/powerpoint/2010/main" r:embed="rId21"/>
              </p:ext>
            </p:extLst>
          </p:nvPr>
        </p:nvPicPr>
        <p:blipFill>
          <a:blip r:embed="rId22"/>
          <a:stretch>
            <a:fillRect/>
          </a:stretch>
        </p:blipFill>
        <p:spPr>
          <a:xfrm>
            <a:off x="2228000" y="1371600"/>
            <a:ext cx="7736000" cy="4754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daptPro">
  <a:themeElements>
    <a:clrScheme name="AdaptPro">
      <a:dk1>
        <a:srgbClr val="0F1B2D"/>
      </a:dk1>
      <a:lt1>
        <a:srgbClr val="FFFFFF"/>
      </a:lt1>
      <a:dk2>
        <a:srgbClr val="1E3A5F"/>
      </a:dk2>
      <a:lt2>
        <a:srgbClr val="EEF3F7"/>
      </a:lt2>
      <a:accent1>
        <a:srgbClr val="1FA89A"/>
      </a:accent1>
      <a:accent2>
        <a:srgbClr val="F2A93B"/>
      </a:accent2>
      <a:accent3>
        <a:srgbClr val="3B82F6"/>
      </a:accent3>
      <a:accent4>
        <a:srgbClr val="E5484D"/>
      </a:accent4>
      <a:accent5>
        <a:srgbClr val="7C5CFF"/>
      </a:accent5>
      <a:accent6>
        <a:srgbClr val="64748B"/>
      </a:accent6>
      <a:hlink>
        <a:srgbClr val="3B82F6"/>
      </a:hlink>
      <a:folHlink>
        <a:srgbClr val="7C5CFF"/>
      </a:folHlink>
    </a:clrScheme>
    <a:fontScheme name="AdaptPr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AdaptPro: a self-maintaining knowledge base for cross-functional alignment</dc:title>
  <dc:subject>PptxGenJS Presentation</dc:subject>
  <dc:creator>Pranav Kalwad</dc:creator>
  <cp:lastModifiedBy>Pranav Kalwad</cp:lastModifiedBy>
  <cp:revision>1</cp:revision>
  <dcterms:created xsi:type="dcterms:W3CDTF">2026-10-17T17:26:34Z</dcterms:created>
  <dcterms:modified xsi:type="dcterms:W3CDTF">2026-10-17T17:26:34Z</dcterms:modified>
</cp:coreProperties>
</file>