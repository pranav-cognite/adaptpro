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88078d99-f83c-d7c6-0205-297befc27b09}">
          <p14:sldIdLst>
            <p14:sldId id="256"/>
          </p14:sldIdLst>
        </p14:section>
        <p14:section name="Why" id="{486819f1-73c7-bfad-f953-533f1cc3705c}">
          <p14:sldIdLst>
            <p14:sldId id="257"/>
            <p14:sldId id="258"/>
          </p14:sldIdLst>
        </p14:section>
        <p14:section name="Solution" id="{67b8ebcd-f33f-6a14-cc5e-577ccc3b6930}">
          <p14:sldIdLst>
            <p14:sldId id="259"/>
          </p14:sldIdLst>
        </p14:section>
        <p14:section name="Knowledge base" id="{34c74cf9-df09-d541-b09c-e034e12f0cec}">
          <p14:sldIdLst>
            <p14:sldId id="260"/>
            <p14:sldId id="261"/>
            <p14:sldId id="262"/>
            <p14:sldId id="263"/>
            <p14:sldId id="264"/>
          </p14:sldIdLst>
        </p14:section>
        <p14:section name="Product" id="{fe288277-5a86-5669-1b5c-c4a4362f9219}">
          <p14:sldIdLst>
            <p14:sldId id="265"/>
            <p14:sldId id="266"/>
          </p14:sldIdLst>
        </p14:section>
        <p14:section name="Demo" id="{4b7a2113-9f70-8fee-2478-1de566020676}">
          <p14:sldIdLst>
            <p14:sldId id="267"/>
            <p14:sldId id="268"/>
            <p14:sldId id="269"/>
          </p14:sldIdLst>
        </p14:section>
        <p14:section name="Scale" id="{0a68f48f-44ef-58b4-32e2-85d68a767c33}">
          <p14:sldIdLst>
            <p14:sldId id="270"/>
            <p14:sldId id="271"/>
          </p14:sldIdLst>
        </p14:section>
        <p14:section name="Ecosystem" id="{4376849a-4809-198d-c4ed-eb8593e07bc3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_TITLE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AdaptPro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_CLOSE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www.notion.com/blog/how-we-built-a-personal-data-scientist-for-every-notion-employee" TargetMode="Externa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Relationship Id="rId6" Type="http://schemas.openxmlformats.org/officeDocument/2006/relationships/hyperlink" Target="https://gist.github.com/karpathy/442a6bf555914893e9891c11519de94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Relationship Id="rId1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nn-business"/>
          <p:cNvSpPr/>
          <p:nvPr/>
        </p:nvSpPr>
        <p:spPr>
          <a:xfrm>
            <a:off x="7086600" y="2560320"/>
            <a:ext cx="2468880" cy="2468880"/>
          </a:xfrm>
          <a:prstGeom prst="ellipse">
            <a:avLst/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3" name="venn-tech"/>
          <p:cNvSpPr/>
          <p:nvPr/>
        </p:nvSpPr>
        <p:spPr>
          <a:xfrm>
            <a:off x="8732520" y="2560320"/>
            <a:ext cx="2468880" cy="2468880"/>
          </a:xfrm>
          <a:prstGeom prst="ellipse">
            <a:avLst/>
          </a:prstGeom>
          <a:solidFill>
            <a:schemeClr val="accent3">
              <a:alpha val="75000"/>
            </a:schemeClr>
          </a:solidFill>
          <a:ln/>
        </p:spPr>
      </p:sp>
      <p:sp>
        <p:nvSpPr>
          <p:cNvPr id="4" name="venn-product"/>
          <p:cNvSpPr/>
          <p:nvPr/>
        </p:nvSpPr>
        <p:spPr>
          <a:xfrm>
            <a:off x="7909560" y="1234440"/>
            <a:ext cx="2468880" cy="24688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5" name="venn-kb"/>
          <p:cNvSpPr/>
          <p:nvPr/>
        </p:nvSpPr>
        <p:spPr>
          <a:xfrm>
            <a:off x="8641080" y="2971800"/>
            <a:ext cx="1005840" cy="100584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6" name="Image 0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2540" y="32232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5303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149840" y="5303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914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116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AdaptPro</a:t>
            </a:r>
            <a:endParaRPr lang="en-US" sz="6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918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self-maintaining knowledge base for cross-functional alignment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DevCon  |  Scalability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Kalwad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holds a piece of the picture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side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KPIs and context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committed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600" dirty="0"/>
          </a:p>
        </p:txBody>
      </p:sp>
      <p:sp>
        <p:nvSpPr>
          <p:cNvPr id="9" name="connector"/>
          <p:cNvSpPr/>
          <p:nvPr/>
        </p:nvSpPr>
        <p:spPr>
          <a:xfrm>
            <a:off x="2331720" y="4114800"/>
            <a:ext cx="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4297680" y="137160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52628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7145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side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scope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and trade-offs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when</a:t>
            </a:r>
            <a:endParaRPr lang="en-US" sz="1600" dirty="0"/>
          </a:p>
        </p:txBody>
      </p:sp>
      <p:sp>
        <p:nvSpPr>
          <p:cNvPr id="16" name="connector"/>
          <p:cNvSpPr/>
          <p:nvPr/>
        </p:nvSpPr>
        <p:spPr>
          <a:xfrm>
            <a:off x="6080760" y="4114800"/>
            <a:ext cx="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8046720" y="137160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8" name="icon-circle"/>
          <p:cNvSpPr/>
          <p:nvPr/>
        </p:nvSpPr>
        <p:spPr>
          <a:xfrm>
            <a:off x="82753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Fa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7145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5256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90525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side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built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limits</a:t>
            </a:r>
            <a:endParaRPr lang="en-US" sz="1600" dirty="0"/>
          </a:p>
        </p:txBody>
      </p:sp>
      <p:sp>
        <p:nvSpPr>
          <p:cNvPr id="23" name="connector"/>
          <p:cNvSpPr/>
          <p:nvPr/>
        </p:nvSpPr>
        <p:spPr>
          <a:xfrm>
            <a:off x="9829800" y="4114800"/>
            <a:ext cx="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callout"/>
          <p:cNvSpPr/>
          <p:nvPr/>
        </p:nvSpPr>
        <p:spPr>
          <a:xfrm>
            <a:off x="548640" y="461772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48640" y="46177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meeting. Three partial pictures.</a:t>
            </a:r>
            <a:endParaRPr lang="en-US" sz="28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walks in without knowing what the others know, or what to ask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Inspiration: a data scientist for everyone</a:t>
            </a:r>
            <a:endParaRPr lang="en-US" sz="3400" dirty="0"/>
          </a:p>
        </p:txBody>
      </p:sp>
      <p:sp>
        <p:nvSpPr>
          <p:cNvPr id="3" name="quote-card"/>
          <p:cNvSpPr/>
          <p:nvPr/>
        </p:nvSpPr>
        <p:spPr>
          <a:xfrm>
            <a:off x="548640" y="1463040"/>
            <a:ext cx="5760720" cy="4206240"/>
          </a:xfrm>
          <a:prstGeom prst="roundRect">
            <a:avLst>
              <a:gd name="adj" fmla="val 326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employee at Notion has a Data Scientist.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846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blog: how they built a personal data scientist for every employee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521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Notion blo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the original article on the Notion blog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463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everyone also had a colleague from each of the other functions?</a:t>
            </a:r>
            <a:endParaRPr lang="en-US" sz="2200" dirty="0"/>
          </a:p>
        </p:txBody>
      </p:sp>
      <p:sp>
        <p:nvSpPr>
          <p:cNvPr id="9" name="icon-circle"/>
          <p:cNvSpPr/>
          <p:nvPr/>
        </p:nvSpPr>
        <p:spPr>
          <a:xfrm>
            <a:off x="6858000" y="3566160"/>
            <a:ext cx="1005840" cy="100584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0" name="Image 0" descr="Fa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38176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76656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12" name="connector"/>
          <p:cNvSpPr/>
          <p:nvPr/>
        </p:nvSpPr>
        <p:spPr>
          <a:xfrm flipV="1">
            <a:off x="7955280" y="3154680"/>
            <a:ext cx="1463040" cy="9144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icon-circle"/>
          <p:cNvSpPr/>
          <p:nvPr/>
        </p:nvSpPr>
        <p:spPr>
          <a:xfrm>
            <a:off x="9418320" y="27432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Fa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9489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3327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6" name="connector"/>
          <p:cNvSpPr/>
          <p:nvPr/>
        </p:nvSpPr>
        <p:spPr>
          <a:xfrm>
            <a:off x="7955280" y="4069080"/>
            <a:ext cx="1463040" cy="1371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icon-circle"/>
          <p:cNvSpPr/>
          <p:nvPr/>
        </p:nvSpPr>
        <p:spPr>
          <a:xfrm>
            <a:off x="9418320" y="37947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FaClipboardLi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0" y="40005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3327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600" dirty="0"/>
          </a:p>
        </p:txBody>
      </p:sp>
      <p:sp>
        <p:nvSpPr>
          <p:cNvPr id="20" name="connector"/>
          <p:cNvSpPr/>
          <p:nvPr/>
        </p:nvSpPr>
        <p:spPr>
          <a:xfrm>
            <a:off x="7955280" y="4069080"/>
            <a:ext cx="1463040" cy="11887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icon-circle"/>
          <p:cNvSpPr/>
          <p:nvPr/>
        </p:nvSpPr>
        <p:spPr>
          <a:xfrm>
            <a:off x="9418320" y="48463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Fa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50520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33272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0" y="5897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expert for the questions you do not know to ask.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AdaptPro: one knowledge base, three personas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463040"/>
            <a:ext cx="2286000" cy="310896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800" dirty="0"/>
          </a:p>
        </p:txBody>
      </p:sp>
      <p:sp>
        <p:nvSpPr>
          <p:cNvPr id="5" name="icon-circle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320290"/>
            <a:ext cx="251460" cy="251460"/>
          </a:xfrm>
          <a:prstGeom prst="rect">
            <a:avLst/>
          </a:prstGeom>
        </p:spPr>
      </p:pic>
      <p:sp>
        <p:nvSpPr>
          <p:cNvPr id="7" name="icon-circle"/>
          <p:cNvSpPr/>
          <p:nvPr/>
        </p:nvSpPr>
        <p:spPr>
          <a:xfrm>
            <a:off x="1325880" y="21945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1" descr="FaS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10" y="2320290"/>
            <a:ext cx="251460" cy="251460"/>
          </a:xfrm>
          <a:prstGeom prst="rect">
            <a:avLst/>
          </a:prstGeom>
        </p:spPr>
      </p:pic>
      <p:sp>
        <p:nvSpPr>
          <p:cNvPr id="9" name="icon-circle"/>
          <p:cNvSpPr/>
          <p:nvPr/>
        </p:nvSpPr>
        <p:spPr>
          <a:xfrm>
            <a:off x="1965960" y="21945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mage 2" descr="FaJi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690" y="2320290"/>
            <a:ext cx="251460" cy="251460"/>
          </a:xfrm>
          <a:prstGeom prst="rect">
            <a:avLst/>
          </a:prstGeom>
        </p:spPr>
      </p:pic>
      <p:sp>
        <p:nvSpPr>
          <p:cNvPr id="11" name="icon-circle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mage 3" descr="FaVide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051810"/>
            <a:ext cx="251460" cy="251460"/>
          </a:xfrm>
          <a:prstGeom prst="rect">
            <a:avLst/>
          </a:prstGeom>
        </p:spPr>
      </p:pic>
      <p:sp>
        <p:nvSpPr>
          <p:cNvPr id="13" name="icon-circle"/>
          <p:cNvSpPr/>
          <p:nvPr/>
        </p:nvSpPr>
        <p:spPr>
          <a:xfrm>
            <a:off x="1325880" y="29260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610" y="3051810"/>
            <a:ext cx="251460" cy="251460"/>
          </a:xfrm>
          <a:prstGeom prst="rect">
            <a:avLst/>
          </a:prstGeom>
        </p:spPr>
      </p:pic>
      <p:sp>
        <p:nvSpPr>
          <p:cNvPr id="15" name="icon-circle"/>
          <p:cNvSpPr/>
          <p:nvPr/>
        </p:nvSpPr>
        <p:spPr>
          <a:xfrm>
            <a:off x="1965960" y="29260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mage 5" descr="FaEnvelop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1690" y="3051810"/>
            <a:ext cx="251460" cy="25146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4008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chats, tickets, meetings, CDF</a:t>
            </a:r>
            <a:endParaRPr lang="en-US" sz="1400" dirty="0"/>
          </a:p>
        </p:txBody>
      </p:sp>
      <p:sp>
        <p:nvSpPr>
          <p:cNvPr id="18" name="connector"/>
          <p:cNvSpPr/>
          <p:nvPr/>
        </p:nvSpPr>
        <p:spPr>
          <a:xfrm>
            <a:off x="2788920" y="3017520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kb-card"/>
          <p:cNvSpPr/>
          <p:nvPr/>
        </p:nvSpPr>
        <p:spPr>
          <a:xfrm>
            <a:off x="3337560" y="1463040"/>
            <a:ext cx="2834640" cy="3108960"/>
          </a:xfrm>
          <a:prstGeom prst="roundRect">
            <a:avLst>
              <a:gd name="adj" fmla="val 483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4251960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6" descr="FaBoo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3420" y="1943100"/>
            <a:ext cx="502920" cy="5029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42900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2200" dirty="0"/>
          </a:p>
        </p:txBody>
      </p:sp>
      <p:sp>
        <p:nvSpPr>
          <p:cNvPr id="23" name="Text 14"/>
          <p:cNvSpPr txBox="1"/>
          <p:nvPr/>
        </p:nvSpPr>
        <p:spPr>
          <a:xfrm>
            <a:off x="3520440" y="3337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wiki: linked pages, every claim traced to its source</a:t>
            </a:r>
            <a:endParaRPr lang="en-US" sz="1400" dirty="0"/>
          </a:p>
        </p:txBody>
      </p:sp>
      <p:sp>
        <p:nvSpPr>
          <p:cNvPr id="24" name="connector"/>
          <p:cNvSpPr/>
          <p:nvPr/>
        </p:nvSpPr>
        <p:spPr>
          <a:xfrm>
            <a:off x="6217920" y="3017520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persona-0"/>
          <p:cNvSpPr/>
          <p:nvPr/>
        </p:nvSpPr>
        <p:spPr>
          <a:xfrm>
            <a:off x="6766560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6" name="Text 17"/>
          <p:cNvSpPr txBox="1"/>
          <p:nvPr/>
        </p:nvSpPr>
        <p:spPr>
          <a:xfrm>
            <a:off x="676656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asks</a:t>
            </a:r>
            <a:endParaRPr lang="en-US" sz="1800" dirty="0"/>
          </a:p>
        </p:txBody>
      </p:sp>
      <p:sp>
        <p:nvSpPr>
          <p:cNvPr id="27" name="persona-1"/>
          <p:cNvSpPr/>
          <p:nvPr/>
        </p:nvSpPr>
        <p:spPr>
          <a:xfrm>
            <a:off x="6766560" y="2542032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8" name="Text 19"/>
          <p:cNvSpPr txBox="1"/>
          <p:nvPr/>
        </p:nvSpPr>
        <p:spPr>
          <a:xfrm>
            <a:off x="6766560" y="2542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asks</a:t>
            </a:r>
            <a:endParaRPr lang="en-US" sz="1800" dirty="0"/>
          </a:p>
        </p:txBody>
      </p:sp>
      <p:sp>
        <p:nvSpPr>
          <p:cNvPr id="29" name="persona-2"/>
          <p:cNvSpPr/>
          <p:nvPr/>
        </p:nvSpPr>
        <p:spPr>
          <a:xfrm>
            <a:off x="6766560" y="3621024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6766560" y="362102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asks</a:t>
            </a:r>
            <a:endParaRPr lang="en-US" sz="1800" dirty="0"/>
          </a:p>
        </p:txBody>
      </p:sp>
      <p:sp>
        <p:nvSpPr>
          <p:cNvPr id="31" name="connector"/>
          <p:cNvSpPr/>
          <p:nvPr/>
        </p:nvSpPr>
        <p:spPr>
          <a:xfrm>
            <a:off x="9281160" y="3017520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card"/>
          <p:cNvSpPr/>
          <p:nvPr/>
        </p:nvSpPr>
        <p:spPr>
          <a:xfrm>
            <a:off x="9829800" y="146304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3" name="icon-circle"/>
          <p:cNvSpPr/>
          <p:nvPr/>
        </p:nvSpPr>
        <p:spPr>
          <a:xfrm>
            <a:off x="10332720" y="173736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Image 7" descr="FaCompa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320" y="1965960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966960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questions, gaps and contradictions</a:t>
            </a:r>
            <a:endParaRPr lang="en-US" sz="1400" dirty="0"/>
          </a:p>
        </p:txBody>
      </p:sp>
      <p:sp>
        <p:nvSpPr>
          <p:cNvPr id="36" name="card"/>
          <p:cNvSpPr/>
          <p:nvPr/>
        </p:nvSpPr>
        <p:spPr>
          <a:xfrm>
            <a:off x="457200" y="489204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7" name="Text 27"/>
          <p:cNvSpPr txBox="1"/>
          <p:nvPr/>
        </p:nvSpPr>
        <p:spPr>
          <a:xfrm>
            <a:off x="685800" y="4892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demo is one use case: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before cross-functional meetings.</a:t>
            </a:r>
            <a:endParaRPr lang="en-US" sz="1800" dirty="0"/>
          </a:p>
        </p:txBody>
      </p:sp>
      <p:sp>
        <p:nvSpPr>
          <p:cNvPr id="38" name="card"/>
          <p:cNvSpPr/>
          <p:nvPr/>
        </p:nvSpPr>
        <p:spPr>
          <a:xfrm>
            <a:off x="6263640" y="489204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9" name="Text 29"/>
          <p:cNvSpPr txBox="1"/>
          <p:nvPr/>
        </p:nvSpPr>
        <p:spPr>
          <a:xfrm>
            <a:off x="6492240" y="4892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belongs to every persona, not one team.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Compiled, not searched: the LLM wiki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0352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mage 0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at question time (RAG)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517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similar passages when asked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blends them into one fluent answer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disagreement can quietly disappear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6309360" y="1371600"/>
            <a:ext cx="530352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658368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once, link everything (LLM wiki)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6517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become linked Markdown pages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its page and its source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a disagreement are preserved</a:t>
            </a:r>
            <a:endParaRPr lang="en-US" sz="1800" dirty="0"/>
          </a:p>
        </p:txBody>
      </p:sp>
      <p:sp>
        <p:nvSpPr>
          <p:cNvPr id="13" name="callout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knowledge base is weak, every agent on top of it is useless.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→ Query → Lint</a:t>
            </a:r>
            <a:endParaRPr lang="en-US" sz="3400" dirty="0"/>
          </a:p>
        </p:txBody>
      </p:sp>
      <p:sp>
        <p:nvSpPr>
          <p:cNvPr id="3" name="icon-circle"/>
          <p:cNvSpPr/>
          <p:nvPr/>
        </p:nvSpPr>
        <p:spPr>
          <a:xfrm>
            <a:off x="1417320" y="14173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FaSy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8059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11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latest from every source. Update pages. Keep both sides of any disagreement.</a:t>
            </a:r>
            <a:endParaRPr lang="en-US" sz="1600" dirty="0"/>
          </a:p>
        </p:txBody>
      </p:sp>
      <p:sp>
        <p:nvSpPr>
          <p:cNvPr id="7" name="icon-circle"/>
          <p:cNvSpPr/>
          <p:nvPr/>
        </p:nvSpPr>
        <p:spPr>
          <a:xfrm>
            <a:off x="5321808" y="1417320"/>
            <a:ext cx="1554480" cy="1554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1805940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44568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544568" y="3611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asks in their own voice. Answers cite pages, or say “not in the wiki”.</a:t>
            </a:r>
            <a:endParaRPr lang="en-US" sz="1600" dirty="0"/>
          </a:p>
        </p:txBody>
      </p:sp>
      <p:sp>
        <p:nvSpPr>
          <p:cNvPr id="11" name="icon-circle"/>
          <p:cNvSpPr/>
          <p:nvPr/>
        </p:nvSpPr>
        <p:spPr>
          <a:xfrm>
            <a:off x="9217152" y="1417320"/>
            <a:ext cx="1554480" cy="1554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180594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39912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8439912" y="3611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contradictions, stale claims, orphans, broken links. Propose fixes.</a:t>
            </a:r>
            <a:endParaRPr lang="en-US" sz="1600" dirty="0"/>
          </a:p>
        </p:txBody>
      </p:sp>
      <p:sp>
        <p:nvSpPr>
          <p:cNvPr id="15" name="connector"/>
          <p:cNvSpPr/>
          <p:nvPr/>
        </p:nvSpPr>
        <p:spPr>
          <a:xfrm>
            <a:off x="3108960" y="2194560"/>
            <a:ext cx="210312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connector"/>
          <p:cNvSpPr/>
          <p:nvPr/>
        </p:nvSpPr>
        <p:spPr>
          <a:xfrm>
            <a:off x="6995160" y="2194560"/>
            <a:ext cx="210312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connector"/>
          <p:cNvSpPr/>
          <p:nvPr/>
        </p:nvSpPr>
        <p:spPr>
          <a:xfrm>
            <a:off x="9994392" y="4892040"/>
            <a:ext cx="0" cy="54864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8" name="connector"/>
          <p:cNvSpPr/>
          <p:nvPr/>
        </p:nvSpPr>
        <p:spPr>
          <a:xfrm flipH="1">
            <a:off x="2194560" y="5440680"/>
            <a:ext cx="7799832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9" name="connector"/>
          <p:cNvSpPr/>
          <p:nvPr/>
        </p:nvSpPr>
        <p:spPr>
          <a:xfrm flipV="1">
            <a:off x="2194560" y="4892040"/>
            <a:ext cx="0" cy="54864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pill"/>
          <p:cNvSpPr/>
          <p:nvPr/>
        </p:nvSpPr>
        <p:spPr>
          <a:xfrm>
            <a:off x="2743200" y="5212080"/>
            <a:ext cx="6400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43200" y="5212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runs on every ingest. A human reviews each proposed fix, at first.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heals itself, so it can be trusted.</a:t>
            </a:r>
            <a:endParaRPr lang="en-US" sz="1600" dirty="0"/>
          </a:p>
        </p:txBody>
      </p:sp>
      <p:sp>
        <p:nvSpPr>
          <p:cNvPr id="23" name="Source link"/>
          <p:cNvSpPr txBox="1"/>
          <p:nvPr/>
        </p:nvSpPr>
        <p:spPr>
          <a:xfrm>
            <a:off x="45720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more: </a:t>
            </a:r>
            <a:r>
              <a:rPr lang="en-US" sz="1200" u="sng" dirty="0">
                <a:hlinkClick r:id="rId6"/>
                <a:latin typeface="Calibri" pitchFamily="34" charset="0"/>
                <a:ea typeface="Calibri" pitchFamily="34" charset="-122"/>
                <a:cs typeface="Calibri" pitchFamily="34" charset="-120"/>
              </a:rPr>
              <a:t>Karpathy, “LLM Wiki” (GitHub Gist)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knowledge base</a:t>
            </a:r>
            <a:endParaRPr lang="en-US" sz="3400" dirty="0"/>
          </a:p>
        </p:txBody>
      </p:sp>
      <p:sp>
        <p:nvSpPr>
          <p:cNvPr id="3" name="band-label-0"/>
          <p:cNvSpPr/>
          <p:nvPr/>
        </p:nvSpPr>
        <p:spPr>
          <a:xfrm>
            <a:off x="548640" y="1371600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topics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3017520" y="137160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0" y="13716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personas have not settled. A gap is flagged, never rounded up to “aligned”.</a:t>
            </a:r>
            <a:endParaRPr lang="en-US" sz="1400" dirty="0"/>
          </a:p>
        </p:txBody>
      </p:sp>
      <p:sp>
        <p:nvSpPr>
          <p:cNvPr id="7" name="band-label-1"/>
          <p:cNvSpPr/>
          <p:nvPr/>
        </p:nvSpPr>
        <p:spPr>
          <a:xfrm>
            <a:off x="548640" y="2395728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957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pages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3017520" y="2395728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0" y="2395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views: each written only from that side's documents.</a:t>
            </a:r>
            <a:endParaRPr lang="en-US" sz="1400" dirty="0"/>
          </a:p>
        </p:txBody>
      </p:sp>
      <p:sp>
        <p:nvSpPr>
          <p:cNvPr id="11" name="band-label-2"/>
          <p:cNvSpPr/>
          <p:nvPr/>
        </p:nvSpPr>
        <p:spPr>
          <a:xfrm>
            <a:off x="548640" y="3419856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Glossaries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3017520" y="3419856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00400" y="341985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persona's vocabulary, explained to the other two.</a:t>
            </a:r>
            <a:endParaRPr lang="en-US" sz="1400" dirty="0"/>
          </a:p>
        </p:txBody>
      </p:sp>
      <p:sp>
        <p:nvSpPr>
          <p:cNvPr id="15" name="band-label-3"/>
          <p:cNvSpPr/>
          <p:nvPr/>
        </p:nvSpPr>
        <p:spPr>
          <a:xfrm>
            <a:off x="548640" y="4443984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4398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3017520" y="4443984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00400" y="444398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per ingested document. Claims stay attributable.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7955280" y="1371600"/>
            <a:ext cx="3657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813816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0" descr="Fa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69164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8239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2286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every agent follows, including who owns which decision.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7955280" y="3429000"/>
            <a:ext cx="3657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5" name="icon-circle"/>
          <p:cNvSpPr/>
          <p:nvPr/>
        </p:nvSpPr>
        <p:spPr>
          <a:xfrm>
            <a:off x="8138160" y="3611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1" descr="FaProject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7490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82396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layer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138160" y="4343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links between pages, assets and claims for navigation.</a:t>
            </a:r>
            <a:endParaRPr lang="en-US" sz="1400" dirty="0"/>
          </a:p>
        </p:txBody>
      </p:sp>
      <p:sp>
        <p:nvSpPr>
          <p:cNvPr id="29" name="callout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back: answer → wiki page → source document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Lint: self-healing with a human in the loop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Fa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Contradictions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pages state conflicting facts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55848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584448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Fa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98" y="17716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4448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Superseded claims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source replaced an older claim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63056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91656" y="16002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Cub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06" y="17716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91656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Orphan pages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that nothing links to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970264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9198864" y="16002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Fa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77165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98864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links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98864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with no target page</a:t>
            </a:r>
            <a:endParaRPr lang="en-US" sz="1400" dirty="0"/>
          </a:p>
        </p:txBody>
      </p:sp>
      <p:sp>
        <p:nvSpPr>
          <p:cNvPr id="23" name="step-0"/>
          <p:cNvSpPr/>
          <p:nvPr/>
        </p:nvSpPr>
        <p:spPr>
          <a:xfrm>
            <a:off x="548640" y="4114800"/>
            <a:ext cx="2834640" cy="100584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051560" y="4114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ingested</a:t>
            </a:r>
            <a:endParaRPr lang="en-US" sz="1400" dirty="0"/>
          </a:p>
        </p:txBody>
      </p:sp>
      <p:sp>
        <p:nvSpPr>
          <p:cNvPr id="25" name="step-1"/>
          <p:cNvSpPr/>
          <p:nvPr/>
        </p:nvSpPr>
        <p:spPr>
          <a:xfrm>
            <a:off x="3319272" y="4114800"/>
            <a:ext cx="2834640" cy="100584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3822192" y="4114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flags a conflict</a:t>
            </a:r>
            <a:endParaRPr lang="en-US" sz="1400" dirty="0"/>
          </a:p>
        </p:txBody>
      </p:sp>
      <p:sp>
        <p:nvSpPr>
          <p:cNvPr id="27" name="step-2"/>
          <p:cNvSpPr/>
          <p:nvPr/>
        </p:nvSpPr>
        <p:spPr>
          <a:xfrm>
            <a:off x="6089904" y="4114800"/>
            <a:ext cx="2834640" cy="10058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592824" y="4114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a resolution</a:t>
            </a:r>
            <a:endParaRPr lang="en-US" sz="1400" dirty="0"/>
          </a:p>
        </p:txBody>
      </p:sp>
      <p:sp>
        <p:nvSpPr>
          <p:cNvPr id="29" name="step-3"/>
          <p:cNvSpPr/>
          <p:nvPr/>
        </p:nvSpPr>
        <p:spPr>
          <a:xfrm>
            <a:off x="8860536" y="4114800"/>
            <a:ext cx="2834640" cy="100584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9363456" y="4114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approves, wiki is updated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human first: a model that merges two claims into one fluent page can hide the very conflict we want to surface.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Sources: where the knowledge comes from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icon-circle"/>
          <p:cNvSpPr/>
          <p:nvPr/>
        </p:nvSpPr>
        <p:spPr>
          <a:xfrm>
            <a:off x="777240" y="1531619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5" name="Image 0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91639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Pre-sales, SoWs, glossaries, KPIs, OKRs</a:t>
            </a:r>
            <a:endParaRPr lang="en-US" sz="1400" dirty="0"/>
          </a:p>
        </p:txBody>
      </p:sp>
      <p:sp>
        <p:nvSpPr>
          <p:cNvPr id="8" name="pill"/>
          <p:cNvSpPr/>
          <p:nvPr/>
        </p:nvSpPr>
        <p:spPr>
          <a:xfrm>
            <a:off x="3017520" y="1399032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017520" y="1399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4297680" y="132588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icon-circle"/>
          <p:cNvSpPr/>
          <p:nvPr/>
        </p:nvSpPr>
        <p:spPr>
          <a:xfrm>
            <a:off x="4526280" y="1531619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12" name="Image 1" descr="FaEnvel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691639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threads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external stakeholders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046720" y="132588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icon-circle"/>
          <p:cNvSpPr/>
          <p:nvPr/>
        </p:nvSpPr>
        <p:spPr>
          <a:xfrm>
            <a:off x="8275320" y="1531619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17" name="Image 2" descr="FaSl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691639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Slack threads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09828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engagement-locked channels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251460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icon-circle"/>
          <p:cNvSpPr/>
          <p:nvPr/>
        </p:nvSpPr>
        <p:spPr>
          <a:xfrm>
            <a:off x="777240" y="27203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22" name="Image 3" descr="FaJi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880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tickets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closed, pending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4297680" y="251460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icon-circle"/>
          <p:cNvSpPr/>
          <p:nvPr/>
        </p:nvSpPr>
        <p:spPr>
          <a:xfrm>
            <a:off x="4526280" y="27203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27" name="Image 4" descr="FaMicrosof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8803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92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Teams chat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534924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Cross-persona discussions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8046720" y="251460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icon-circle"/>
          <p:cNvSpPr/>
          <p:nvPr/>
        </p:nvSpPr>
        <p:spPr>
          <a:xfrm>
            <a:off x="8275320" y="27203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32" name="Image 5" descr="FaConfluen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288036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982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Confluence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90982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platform documentation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548640" y="370332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icon-circle"/>
          <p:cNvSpPr/>
          <p:nvPr/>
        </p:nvSpPr>
        <p:spPr>
          <a:xfrm>
            <a:off x="777240" y="3909059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37" name="Image 6" descr="FaVide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406908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600200" y="379475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summaries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160020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and Meet AI summaries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4297680" y="370332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icon-circle"/>
          <p:cNvSpPr/>
          <p:nvPr/>
        </p:nvSpPr>
        <p:spPr>
          <a:xfrm>
            <a:off x="4526280" y="3909059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42" name="Image 7" descr="FaChalkboard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4069080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349240" y="379475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KT</a:t>
            </a:r>
            <a:endParaRPr lang="en-US" sz="1800" dirty="0"/>
          </a:p>
        </p:txBody>
      </p:sp>
      <p:sp>
        <p:nvSpPr>
          <p:cNvPr id="44" name="Text 34"/>
          <p:cNvSpPr txBox="1"/>
          <p:nvPr/>
        </p:nvSpPr>
        <p:spPr>
          <a:xfrm>
            <a:off x="53492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and recordings</a:t>
            </a:r>
            <a:endParaRPr lang="en-US" sz="1400" dirty="0"/>
          </a:p>
        </p:txBody>
      </p:sp>
      <p:sp>
        <p:nvSpPr>
          <p:cNvPr id="45" name="card"/>
          <p:cNvSpPr/>
          <p:nvPr/>
        </p:nvSpPr>
        <p:spPr>
          <a:xfrm>
            <a:off x="8046720" y="370332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6" name="icon-circle"/>
          <p:cNvSpPr/>
          <p:nvPr/>
        </p:nvSpPr>
        <p:spPr>
          <a:xfrm>
            <a:off x="8275320" y="3909059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7" name="Image 8" descr="FaDatabas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340" y="4069080"/>
            <a:ext cx="320040" cy="32004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098280" y="379475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CDF project</a:t>
            </a:r>
            <a:endParaRPr lang="en-US" sz="1800" dirty="0"/>
          </a:p>
        </p:txBody>
      </p:sp>
      <p:sp>
        <p:nvSpPr>
          <p:cNvPr id="49" name="Text 38"/>
          <p:cNvSpPr txBox="1"/>
          <p:nvPr/>
        </p:nvSpPr>
        <p:spPr>
          <a:xfrm>
            <a:off x="90982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pipelines, codebase</a:t>
            </a:r>
            <a:endParaRPr lang="en-US" sz="1400" dirty="0"/>
          </a:p>
        </p:txBody>
      </p:sp>
      <p:sp>
        <p:nvSpPr>
          <p:cNvPr id="50" name="pill"/>
          <p:cNvSpPr/>
          <p:nvPr/>
        </p:nvSpPr>
        <p:spPr>
          <a:xfrm>
            <a:off x="10515600" y="3776472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1" name="Text 40"/>
          <p:cNvSpPr txBox="1"/>
          <p:nvPr/>
        </p:nvSpPr>
        <p:spPr>
          <a:xfrm>
            <a:off x="10515600" y="3776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4297680" y="48920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ingests three engagement documents and a mock CDF project.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3" name="card"/>
          <p:cNvSpPr/>
          <p:nvPr/>
        </p:nvSpPr>
        <p:spPr>
          <a:xfrm>
            <a:off x="548640" y="4892040"/>
            <a:ext cx="3566160" cy="10515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4" name="icon-circle"/>
          <p:cNvSpPr/>
          <p:nvPr/>
        </p:nvSpPr>
        <p:spPr>
          <a:xfrm>
            <a:off x="777240" y="50977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p/>
        </p:txBody>
      </p:sp>
      <p:pic>
        <p:nvPicPr>
          <p:cNvPr id="55" name="Image 3" descr="SiNoti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260" y="5257800"/>
            <a:ext cx="320040" cy="320040"/>
          </a:xfrm>
          <a:prstGeom prst="rect">
            <a:avLst/>
          </a:prstGeom>
        </p:spPr>
      </p:pic>
      <p:sp>
        <p:nvSpPr>
          <p:cNvPr id="56" name="Text 17"/>
          <p:cNvSpPr txBox="1"/>
          <p:nvPr/>
        </p:nvSpPr>
        <p:spPr>
          <a:xfrm>
            <a:off x="160020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</a:t>
            </a:r>
            <a:endParaRPr lang="en-US" sz="1800" dirty="0"/>
          </a:p>
        </p:txBody>
      </p:sp>
      <p:sp>
        <p:nvSpPr>
          <p:cNvPr id="57" name="Text 18"/>
          <p:cNvSpPr txBox="1"/>
          <p:nvPr/>
        </p:nvSpPr>
        <p:spPr>
          <a:xfrm>
            <a:off x="160020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databases: specs, wikis, notes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agents use the knowledge base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3832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agent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Business on Product and Tech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606040"/>
            <a:ext cx="33832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731520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9946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agent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Product on Business and Tech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840480"/>
            <a:ext cx="33832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731520" y="40690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229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agent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Tech on Business and Product</a:t>
            </a:r>
            <a:endParaRPr lang="en-US" sz="1400" dirty="0"/>
          </a:p>
        </p:txBody>
      </p:sp>
      <p:sp>
        <p:nvSpPr>
          <p:cNvPr id="18" name="connector"/>
          <p:cNvSpPr/>
          <p:nvPr/>
        </p:nvSpPr>
        <p:spPr>
          <a:xfrm>
            <a:off x="3977640" y="3154680"/>
            <a:ext cx="36576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4389120" y="1353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agent answers</a:t>
            </a:r>
            <a:endParaRPr lang="en-US" sz="1600" dirty="0"/>
          </a:p>
        </p:txBody>
      </p:sp>
      <p:sp>
        <p:nvSpPr>
          <p:cNvPr id="20" name="icon-circle"/>
          <p:cNvSpPr/>
          <p:nvPr/>
        </p:nvSpPr>
        <p:spPr>
          <a:xfrm>
            <a:off x="4389120" y="18470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38912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93776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clarifying question first, when the answer depends on it</a:t>
            </a:r>
            <a:endParaRPr lang="en-US" sz="1400" dirty="0"/>
          </a:p>
        </p:txBody>
      </p:sp>
      <p:sp>
        <p:nvSpPr>
          <p:cNvPr id="23" name="icon-circle"/>
          <p:cNvSpPr/>
          <p:nvPr/>
        </p:nvSpPr>
        <p:spPr>
          <a:xfrm>
            <a:off x="4389120" y="24871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389120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93776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index, then searches the whole wiki</a:t>
            </a:r>
            <a:endParaRPr lang="en-US" sz="1400" dirty="0"/>
          </a:p>
        </p:txBody>
      </p:sp>
      <p:sp>
        <p:nvSpPr>
          <p:cNvPr id="26" name="icon-circle"/>
          <p:cNvSpPr/>
          <p:nvPr/>
        </p:nvSpPr>
        <p:spPr>
          <a:xfrm>
            <a:off x="4389120" y="31272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38912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493776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links to the source pages</a:t>
            </a:r>
            <a:endParaRPr lang="en-US" sz="1400" dirty="0"/>
          </a:p>
        </p:txBody>
      </p:sp>
      <p:sp>
        <p:nvSpPr>
          <p:cNvPr id="29" name="icon-circle"/>
          <p:cNvSpPr/>
          <p:nvPr/>
        </p:nvSpPr>
        <p:spPr>
          <a:xfrm>
            <a:off x="4389120" y="37673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38912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493776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one page per claim, or says “not in the wiki”</a:t>
            </a:r>
            <a:endParaRPr lang="en-US" sz="1400" dirty="0"/>
          </a:p>
        </p:txBody>
      </p:sp>
      <p:sp>
        <p:nvSpPr>
          <p:cNvPr id="32" name="icon-circle"/>
          <p:cNvSpPr/>
          <p:nvPr/>
        </p:nvSpPr>
        <p:spPr>
          <a:xfrm>
            <a:off x="4389120" y="44074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389120" y="4407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4937760" y="4343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brief and at most five questions to ask</a:t>
            </a:r>
            <a:endParaRPr lang="en-US" sz="1400" dirty="0"/>
          </a:p>
        </p:txBody>
      </p:sp>
      <p:sp>
        <p:nvSpPr>
          <p:cNvPr id="35" name="connector"/>
          <p:cNvSpPr/>
          <p:nvPr/>
        </p:nvSpPr>
        <p:spPr>
          <a:xfrm>
            <a:off x="8641080" y="3154680"/>
            <a:ext cx="36576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wiki-box"/>
          <p:cNvSpPr/>
          <p:nvPr/>
        </p:nvSpPr>
        <p:spPr>
          <a:xfrm>
            <a:off x="9052560" y="1371600"/>
            <a:ext cx="2560320" cy="3566160"/>
          </a:xfrm>
          <a:prstGeom prst="roundRect">
            <a:avLst>
              <a:gd name="adj" fmla="val 535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92354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wiki</a:t>
            </a:r>
            <a:endParaRPr lang="en-US" sz="2000" dirty="0"/>
          </a:p>
        </p:txBody>
      </p:sp>
      <p:sp>
        <p:nvSpPr>
          <p:cNvPr id="38" name="Text 33"/>
          <p:cNvSpPr txBox="1"/>
          <p:nvPr/>
        </p:nvSpPr>
        <p:spPr>
          <a:xfrm>
            <a:off x="92354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for agents</a:t>
            </a:r>
            <a:endParaRPr lang="en-US" sz="1400" dirty="0"/>
          </a:p>
        </p:txBody>
      </p:sp>
      <p:sp>
        <p:nvSpPr>
          <p:cNvPr id="39" name="wiki-chip-0"/>
          <p:cNvSpPr/>
          <p:nvPr/>
        </p:nvSpPr>
        <p:spPr>
          <a:xfrm>
            <a:off x="9235440" y="2286000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9235440" y="2286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pages</a:t>
            </a:r>
            <a:endParaRPr lang="en-US" sz="1400" dirty="0"/>
          </a:p>
        </p:txBody>
      </p:sp>
      <p:sp>
        <p:nvSpPr>
          <p:cNvPr id="41" name="wiki-chip-1"/>
          <p:cNvSpPr/>
          <p:nvPr/>
        </p:nvSpPr>
        <p:spPr>
          <a:xfrm>
            <a:off x="9235440" y="2816352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9235440" y="28163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topics</a:t>
            </a:r>
            <a:endParaRPr lang="en-US" sz="1400" dirty="0"/>
          </a:p>
        </p:txBody>
      </p:sp>
      <p:sp>
        <p:nvSpPr>
          <p:cNvPr id="43" name="wiki-chip-2"/>
          <p:cNvSpPr/>
          <p:nvPr/>
        </p:nvSpPr>
        <p:spPr>
          <a:xfrm>
            <a:off x="9235440" y="3346704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9235440" y="33467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Glossaries</a:t>
            </a:r>
            <a:endParaRPr lang="en-US" sz="1400" dirty="0"/>
          </a:p>
        </p:txBody>
      </p:sp>
      <p:sp>
        <p:nvSpPr>
          <p:cNvPr id="45" name="wiki-chip-3"/>
          <p:cNvSpPr/>
          <p:nvPr/>
        </p:nvSpPr>
        <p:spPr>
          <a:xfrm>
            <a:off x="9235440" y="3877056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9235440" y="38770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</a:t>
            </a:r>
            <a:endParaRPr lang="en-US" sz="1400" dirty="0"/>
          </a:p>
        </p:txBody>
      </p:sp>
      <p:sp>
        <p:nvSpPr>
          <p:cNvPr id="47" name="wiki-chip-4"/>
          <p:cNvSpPr/>
          <p:nvPr/>
        </p:nvSpPr>
        <p:spPr>
          <a:xfrm>
            <a:off x="9235440" y="4407408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9235440" y="44074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layer</a:t>
            </a:r>
            <a:endParaRPr lang="en-US" sz="1400" dirty="0"/>
          </a:p>
        </p:txBody>
      </p:sp>
      <p:sp>
        <p:nvSpPr>
          <p:cNvPr id="49" name="callout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only read and cite. People ingest and update the wiki.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use cases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use case (the demo)</a:t>
            </a:r>
            <a:endParaRPr lang="en-US" sz="2000" dirty="0"/>
          </a:p>
        </p:txBody>
      </p:sp>
      <p:sp>
        <p:nvSpPr>
          <p:cNvPr id="5" name="icon-circle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Com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3088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48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work beyond your role</a:t>
            </a:r>
            <a:endParaRPr lang="en-US" sz="1600" dirty="0"/>
          </a:p>
        </p:txBody>
      </p:sp>
      <p:sp>
        <p:nvSpPr>
          <p:cNvPr id="8" name="icon-circle"/>
          <p:cNvSpPr/>
          <p:nvPr/>
        </p:nvSpPr>
        <p:spPr>
          <a:xfrm>
            <a:off x="868680" y="31272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28726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31272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before cross-functional and customer meetings</a:t>
            </a:r>
            <a:endParaRPr lang="en-US" sz="1600" dirty="0"/>
          </a:p>
        </p:txBody>
      </p:sp>
      <p:sp>
        <p:nvSpPr>
          <p:cNvPr id="11" name="icon-circle"/>
          <p:cNvSpPr/>
          <p:nvPr/>
        </p:nvSpPr>
        <p:spPr>
          <a:xfrm>
            <a:off x="868680" y="410565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265676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10565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alignment and readiness behind each decision</a:t>
            </a:r>
            <a:endParaRPr lang="en-US" sz="1600" dirty="0"/>
          </a:p>
        </p:txBody>
      </p:sp>
      <p:sp>
        <p:nvSpPr>
          <p:cNvPr id="14" name="icon-circle"/>
          <p:cNvSpPr/>
          <p:nvPr/>
        </p:nvSpPr>
        <p:spPr>
          <a:xfrm>
            <a:off x="868680" y="508406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244084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508406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your work fits and what it does to the business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6583680" y="1371600"/>
            <a:ext cx="50292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685800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(named, not in the demo)</a:t>
            </a:r>
            <a:endParaRPr lang="en-US" sz="2000" dirty="0"/>
          </a:p>
        </p:txBody>
      </p:sp>
      <p:sp>
        <p:nvSpPr>
          <p:cNvPr id="19" name="icon-circle"/>
          <p:cNvSpPr/>
          <p:nvPr/>
        </p:nvSpPr>
        <p:spPr>
          <a:xfrm>
            <a:off x="6858000" y="21031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mage 4" descr="FaSla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22174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9808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joins long cross-persona threads and bridges people</a:t>
            </a:r>
            <a:endParaRPr lang="en-US" sz="1400" dirty="0"/>
          </a:p>
        </p:txBody>
      </p:sp>
      <p:sp>
        <p:nvSpPr>
          <p:cNvPr id="22" name="icon-circle"/>
          <p:cNvSpPr/>
          <p:nvPr/>
        </p:nvSpPr>
        <p:spPr>
          <a:xfrm>
            <a:off x="6858000" y="277063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3" name="Image 5" descr="FaJi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2884932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498080" y="2724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flags dependencies and aligns priorities on new tickets</a:t>
            </a:r>
            <a:endParaRPr lang="en-US" sz="1400" dirty="0"/>
          </a:p>
        </p:txBody>
      </p:sp>
      <p:sp>
        <p:nvSpPr>
          <p:cNvPr id="25" name="icon-circle"/>
          <p:cNvSpPr/>
          <p:nvPr/>
        </p:nvSpPr>
        <p:spPr>
          <a:xfrm>
            <a:off x="6858000" y="343814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6" name="Image 6" descr="FaMicrosof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3552444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98080" y="33924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the same bridge agent in Teams channels</a:t>
            </a:r>
            <a:endParaRPr lang="en-US" sz="1400" dirty="0"/>
          </a:p>
        </p:txBody>
      </p:sp>
      <p:sp>
        <p:nvSpPr>
          <p:cNvPr id="28" name="icon-circle"/>
          <p:cNvSpPr/>
          <p:nvPr/>
        </p:nvSpPr>
        <p:spPr>
          <a:xfrm>
            <a:off x="6858000" y="4105656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9" name="Image 7" descr="FaBinocular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300" y="4219956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49808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Look-ahead: failure patterns vs the current plan</a:t>
            </a:r>
            <a:endParaRPr lang="en-US" sz="1400" dirty="0"/>
          </a:p>
        </p:txBody>
      </p:sp>
      <p:sp>
        <p:nvSpPr>
          <p:cNvPr id="31" name="icon-circle"/>
          <p:cNvSpPr/>
          <p:nvPr/>
        </p:nvSpPr>
        <p:spPr>
          <a:xfrm>
            <a:off x="6858000" y="47731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2" name="Image 8" descr="FaHistor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2300" y="4887468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498080" y="47274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plus now: past decisions with fresh events</a:t>
            </a:r>
            <a:endParaRPr lang="en-US" sz="1400" dirty="0"/>
          </a:p>
        </p:txBody>
      </p:sp>
      <p:sp>
        <p:nvSpPr>
          <p:cNvPr id="34" name="icon-circle"/>
          <p:cNvSpPr/>
          <p:nvPr/>
        </p:nvSpPr>
        <p:spPr>
          <a:xfrm>
            <a:off x="6858000" y="5440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5" name="Image 9" descr="FaCog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300" y="5554980"/>
            <a:ext cx="228600" cy="22860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7498080" y="5394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CDF incident debugging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homework before the meeting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 case of the broader product. Veridion Line 3 OEE is a fictional engagement used as a sample.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live OEE for any line and an automatic work order when OEE drops.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297680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52628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three read-only queries. No write path, no alerting policy.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046720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8275320" y="18745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Fa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20231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read-only. No work-order schema or agreed OEE threshold.</a:t>
            </a:r>
            <a:endParaRPr lang="en-US" sz="1600" dirty="0"/>
          </a:p>
        </p:txBody>
      </p:sp>
      <p:sp>
        <p:nvSpPr>
          <p:cNvPr id="19" name="flow-0"/>
          <p:cNvSpPr/>
          <p:nvPr/>
        </p:nvSpPr>
        <p:spPr>
          <a:xfrm>
            <a:off x="548640" y="4206240"/>
            <a:ext cx="2834640" cy="109728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051560" y="42062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states role and meeting</a:t>
            </a:r>
            <a:endParaRPr lang="en-US" sz="1400" dirty="0"/>
          </a:p>
        </p:txBody>
      </p:sp>
      <p:sp>
        <p:nvSpPr>
          <p:cNvPr id="21" name="flow-1"/>
          <p:cNvSpPr/>
          <p:nvPr/>
        </p:nvSpPr>
        <p:spPr>
          <a:xfrm>
            <a:off x="3319272" y="4206240"/>
            <a:ext cx="2834640" cy="109728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822192" y="42062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asks: which meeting? what goal?</a:t>
            </a:r>
            <a:endParaRPr lang="en-US" sz="1400" dirty="0"/>
          </a:p>
        </p:txBody>
      </p:sp>
      <p:sp>
        <p:nvSpPr>
          <p:cNvPr id="23" name="flow-2"/>
          <p:cNvSpPr/>
          <p:nvPr/>
        </p:nvSpPr>
        <p:spPr>
          <a:xfrm>
            <a:off x="6089904" y="4206240"/>
            <a:ext cx="2834640" cy="10972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592824" y="42062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on the other two sides</a:t>
            </a:r>
            <a:endParaRPr lang="en-US" sz="1400" dirty="0"/>
          </a:p>
        </p:txBody>
      </p:sp>
      <p:sp>
        <p:nvSpPr>
          <p:cNvPr id="25" name="flow-3"/>
          <p:cNvSpPr/>
          <p:nvPr/>
        </p:nvSpPr>
        <p:spPr>
          <a:xfrm>
            <a:off x="8860536" y="4206240"/>
            <a:ext cx="2834640" cy="10972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363456" y="42062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five questions, each with “Why ask”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Code and the LLM wiki skill.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what each persona sees</a:t>
            </a:r>
            <a:endParaRPr lang="en-US" sz="3400" dirty="0"/>
          </a:p>
        </p:txBody>
      </p:sp>
      <p:sp>
        <p:nvSpPr>
          <p:cNvPr id="3" name="screenshot-placeholder-Tech"/>
          <p:cNvSpPr/>
          <p:nvPr/>
        </p:nvSpPr>
        <p:spPr>
          <a:xfrm>
            <a:off x="548640" y="1600200"/>
            <a:ext cx="685800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brief</a:t>
            </a:r>
            <a:endParaRPr lang="en-US" sz="2000" dirty="0"/>
          </a:p>
        </p:txBody>
      </p:sp>
      <p:sp>
        <p:nvSpPr>
          <p:cNvPr id="5" name="pill"/>
          <p:cNvSpPr/>
          <p:nvPr/>
        </p:nvSpPr>
        <p:spPr>
          <a:xfrm>
            <a:off x="731520" y="14173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97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open questions for the customer call</a:t>
            </a:r>
            <a:endParaRPr lang="en-US" sz="1400" dirty="0"/>
          </a:p>
        </p:txBody>
      </p:sp>
      <p:sp>
        <p:nvSpPr>
          <p:cNvPr id="8" name="screenshot-placeholder-Business"/>
          <p:cNvSpPr/>
          <p:nvPr/>
        </p:nvSpPr>
        <p:spPr>
          <a:xfrm>
            <a:off x="7680960" y="1600200"/>
            <a:ext cx="39319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680960" y="1600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brief</a:t>
            </a:r>
            <a:endParaRPr lang="en-US" sz="1400" dirty="0"/>
          </a:p>
        </p:txBody>
      </p:sp>
      <p:sp>
        <p:nvSpPr>
          <p:cNvPr id="10" name="pill"/>
          <p:cNvSpPr/>
          <p:nvPr/>
        </p:nvSpPr>
        <p:spPr>
          <a:xfrm>
            <a:off x="7863840" y="14173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 Product and Tech have scoped</a:t>
            </a:r>
            <a:endParaRPr lang="en-US" sz="1400" dirty="0"/>
          </a:p>
        </p:txBody>
      </p:sp>
      <p:sp>
        <p:nvSpPr>
          <p:cNvPr id="13" name="screenshot-placeholder-Product"/>
          <p:cNvSpPr/>
          <p:nvPr/>
        </p:nvSpPr>
        <p:spPr>
          <a:xfrm>
            <a:off x="7680960" y="4069080"/>
            <a:ext cx="39319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7680960" y="40690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brief</a:t>
            </a:r>
            <a:endParaRPr lang="en-US" sz="1400" dirty="0"/>
          </a:p>
        </p:txBody>
      </p:sp>
      <p:sp>
        <p:nvSpPr>
          <p:cNvPr id="15" name="pill"/>
          <p:cNvSpPr/>
          <p:nvPr/>
        </p:nvSpPr>
        <p:spPr>
          <a:xfrm>
            <a:off x="7863840" y="388620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5852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what Business has committed 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 and tech stack</a:t>
            </a:r>
            <a:endParaRPr lang="en-US" sz="3400" dirty="0"/>
          </a:p>
        </p:txBody>
      </p:sp>
      <p:sp>
        <p:nvSpPr>
          <p:cNvPr id="3" name="maturity-1"/>
          <p:cNvSpPr/>
          <p:nvPr/>
        </p:nvSpPr>
        <p:spPr>
          <a:xfrm>
            <a:off x="548640" y="1280160"/>
            <a:ext cx="3840480" cy="7772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280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LLM wiki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this demo</a:t>
            </a:r>
            <a:endParaRPr lang="en-US" sz="1400" dirty="0"/>
          </a:p>
        </p:txBody>
      </p:sp>
      <p:sp>
        <p:nvSpPr>
          <p:cNvPr id="5" name="maturity-2"/>
          <p:cNvSpPr/>
          <p:nvPr/>
        </p:nvSpPr>
        <p:spPr>
          <a:xfrm>
            <a:off x="4160520" y="1280160"/>
            <a:ext cx="3840480" cy="77724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280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Agentic patterns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built</a:t>
            </a:r>
            <a:endParaRPr lang="en-US" sz="1400" dirty="0"/>
          </a:p>
        </p:txBody>
      </p:sp>
      <p:sp>
        <p:nvSpPr>
          <p:cNvPr id="7" name="maturity-3"/>
          <p:cNvSpPr/>
          <p:nvPr/>
        </p:nvSpPr>
        <p:spPr>
          <a:xfrm>
            <a:off x="7772400" y="1280160"/>
            <a:ext cx="3840480" cy="77724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21040" y="1280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Claim store + check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today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240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at scale</a:t>
            </a:r>
            <a:endParaRPr lang="en-US" sz="1600" dirty="0"/>
          </a:p>
        </p:txBody>
      </p:sp>
      <p:sp>
        <p:nvSpPr>
          <p:cNvPr id="11" name="layer-0"/>
          <p:cNvSpPr/>
          <p:nvPr/>
        </p:nvSpPr>
        <p:spPr>
          <a:xfrm>
            <a:off x="548640" y="2606040"/>
            <a:ext cx="2240280" cy="621792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pattern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2926080" y="2606040"/>
            <a:ext cx="33832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08960" y="26060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read-only persona agents</a:t>
            </a:r>
            <a:endParaRPr lang="en-US" sz="1400" dirty="0"/>
          </a:p>
        </p:txBody>
      </p:sp>
      <p:sp>
        <p:nvSpPr>
          <p:cNvPr id="15" name="connector"/>
          <p:cNvSpPr/>
          <p:nvPr/>
        </p:nvSpPr>
        <p:spPr>
          <a:xfrm>
            <a:off x="6355080" y="2916936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6720840" y="2606040"/>
            <a:ext cx="48920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6060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(reason, act on wiki tools, observe) plus a critic agent</a:t>
            </a:r>
            <a:endParaRPr lang="en-US" sz="1400" dirty="0"/>
          </a:p>
        </p:txBody>
      </p:sp>
      <p:sp>
        <p:nvSpPr>
          <p:cNvPr id="18" name="layer-1"/>
          <p:cNvSpPr/>
          <p:nvPr/>
        </p:nvSpPr>
        <p:spPr>
          <a:xfrm>
            <a:off x="548640" y="3300984"/>
            <a:ext cx="2240280" cy="621792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30098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2926080" y="3300984"/>
            <a:ext cx="33832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08960" y="330098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subagents</a:t>
            </a:r>
            <a:endParaRPr lang="en-US" sz="1400" dirty="0"/>
          </a:p>
        </p:txBody>
      </p:sp>
      <p:sp>
        <p:nvSpPr>
          <p:cNvPr id="22" name="connector"/>
          <p:cNvSpPr/>
          <p:nvPr/>
        </p:nvSpPr>
        <p:spPr>
          <a:xfrm>
            <a:off x="6355080" y="361188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6720840" y="3300984"/>
            <a:ext cx="48920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3009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stateful graph, checkpoints, human approval step</a:t>
            </a:r>
            <a:endParaRPr lang="en-US" sz="1400" dirty="0"/>
          </a:p>
        </p:txBody>
      </p:sp>
      <p:sp>
        <p:nvSpPr>
          <p:cNvPr id="25" name="layer-2"/>
          <p:cNvSpPr/>
          <p:nvPr/>
        </p:nvSpPr>
        <p:spPr>
          <a:xfrm>
            <a:off x="548640" y="3995928"/>
            <a:ext cx="2240280" cy="621792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399592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27" name="card"/>
          <p:cNvSpPr/>
          <p:nvPr/>
        </p:nvSpPr>
        <p:spPr>
          <a:xfrm>
            <a:off x="2926080" y="3995928"/>
            <a:ext cx="33832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08960" y="39959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through Claude Code</a:t>
            </a:r>
            <a:endParaRPr lang="en-US" sz="1400" dirty="0"/>
          </a:p>
        </p:txBody>
      </p:sp>
      <p:sp>
        <p:nvSpPr>
          <p:cNvPr id="29" name="connector"/>
          <p:cNvSpPr/>
          <p:nvPr/>
        </p:nvSpPr>
        <p:spPr>
          <a:xfrm>
            <a:off x="6355080" y="4306824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card"/>
          <p:cNvSpPr/>
          <p:nvPr/>
        </p:nvSpPr>
        <p:spPr>
          <a:xfrm>
            <a:off x="6720840" y="3995928"/>
            <a:ext cx="48920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39959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swap LLMs behind one gateway, no agent rewrite</a:t>
            </a:r>
            <a:endParaRPr lang="en-US" sz="1400" dirty="0"/>
          </a:p>
        </p:txBody>
      </p:sp>
      <p:sp>
        <p:nvSpPr>
          <p:cNvPr id="32" name="layer-3"/>
          <p:cNvSpPr/>
          <p:nvPr/>
        </p:nvSpPr>
        <p:spPr>
          <a:xfrm>
            <a:off x="548640" y="4690872"/>
            <a:ext cx="2240280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69087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34" name="card"/>
          <p:cNvSpPr/>
          <p:nvPr/>
        </p:nvSpPr>
        <p:spPr>
          <a:xfrm>
            <a:off x="2926080" y="4690872"/>
            <a:ext cx="33832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108960" y="4690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wiki: Markdown in git</a:t>
            </a:r>
            <a:endParaRPr lang="en-US" sz="1400" dirty="0"/>
          </a:p>
        </p:txBody>
      </p:sp>
      <p:sp>
        <p:nvSpPr>
          <p:cNvPr id="36" name="connector"/>
          <p:cNvSpPr/>
          <p:nvPr/>
        </p:nvSpPr>
        <p:spPr>
          <a:xfrm>
            <a:off x="6355080" y="5001768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7" name="card"/>
          <p:cNvSpPr/>
          <p:nvPr/>
        </p:nvSpPr>
        <p:spPr>
          <a:xfrm>
            <a:off x="6720840" y="4690872"/>
            <a:ext cx="48920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03720" y="469087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store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delta ingest and hybrid keyword + vector search</a:t>
            </a:r>
            <a:endParaRPr lang="en-US" sz="1400" dirty="0"/>
          </a:p>
        </p:txBody>
      </p:sp>
      <p:sp>
        <p:nvSpPr>
          <p:cNvPr id="39" name="layer-4"/>
          <p:cNvSpPr/>
          <p:nvPr/>
        </p:nvSpPr>
        <p:spPr>
          <a:xfrm>
            <a:off x="548640" y="5385816"/>
            <a:ext cx="2240280" cy="621792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538581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41" name="card"/>
          <p:cNvSpPr/>
          <p:nvPr/>
        </p:nvSpPr>
        <p:spPr>
          <a:xfrm>
            <a:off x="2926080" y="5385816"/>
            <a:ext cx="33832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108960" y="53858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review, git history</a:t>
            </a:r>
            <a:endParaRPr lang="en-US" sz="1400" dirty="0"/>
          </a:p>
        </p:txBody>
      </p:sp>
      <p:sp>
        <p:nvSpPr>
          <p:cNvPr id="43" name="connector"/>
          <p:cNvSpPr/>
          <p:nvPr/>
        </p:nvSpPr>
        <p:spPr>
          <a:xfrm>
            <a:off x="6355080" y="5696712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4" name="card"/>
          <p:cNvSpPr/>
          <p:nvPr/>
        </p:nvSpPr>
        <p:spPr>
          <a:xfrm>
            <a:off x="6720840" y="5385816"/>
            <a:ext cx="48920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03720" y="538581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tracing, evals and prompt versioning on every agent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Scalability: six pressure points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Fa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throughput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must scale with product, process and teams.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526280" y="1600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FaCo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7716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and LLM cost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the corpus and with every user.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317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8275320" y="16002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Syn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7716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 bottleneck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is intellectual work. A full re-read will not scale.</a:t>
            </a:r>
            <a:endParaRPr lang="en-US" sz="1400" dirty="0"/>
          </a:p>
        </p:txBody>
      </p:sp>
      <p:sp>
        <p:nvSpPr>
          <p:cNvPr id="18" name="pill"/>
          <p:cNvSpPr/>
          <p:nvPr/>
        </p:nvSpPr>
        <p:spPr>
          <a:xfrm>
            <a:off x="10424160" y="160020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042416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548640" y="384048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3175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1" name="icon-circle"/>
          <p:cNvSpPr/>
          <p:nvPr/>
        </p:nvSpPr>
        <p:spPr>
          <a:xfrm>
            <a:off x="777240" y="4069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24053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and retrieval quality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page gets harder as the wiki grows.</a:t>
            </a:r>
            <a:endParaRPr lang="en-US" sz="1400" dirty="0"/>
          </a:p>
        </p:txBody>
      </p:sp>
      <p:sp>
        <p:nvSpPr>
          <p:cNvPr id="25" name="pill"/>
          <p:cNvSpPr/>
          <p:nvPr/>
        </p:nvSpPr>
        <p:spPr>
          <a:xfrm>
            <a:off x="2926080" y="406908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292608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4297680" y="384048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8" name="icon-circle"/>
          <p:cNvSpPr/>
          <p:nvPr/>
        </p:nvSpPr>
        <p:spPr>
          <a:xfrm>
            <a:off x="4526280" y="406908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9" name="Image 4" descr="Fa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240530"/>
            <a:ext cx="342900" cy="3429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2628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52628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what agents read, said and missed.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8046720" y="384048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3" name="icon-circle"/>
          <p:cNvSpPr/>
          <p:nvPr/>
        </p:nvSpPr>
        <p:spPr>
          <a:xfrm>
            <a:off x="8275320" y="4069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5" descr="FaVide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240530"/>
            <a:ext cx="342900" cy="3429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27532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input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827532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Recordings, decks and PDFs, at volume.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lint and retrieval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800" dirty="0"/>
          </a:p>
        </p:txBody>
      </p:sp>
      <p:sp>
        <p:nvSpPr>
          <p:cNvPr id="5" name="page"/>
          <p:cNvSpPr/>
          <p:nvPr/>
        </p:nvSpPr>
        <p:spPr>
          <a:xfrm>
            <a:off x="7772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6" name="page"/>
          <p:cNvSpPr/>
          <p:nvPr/>
        </p:nvSpPr>
        <p:spPr>
          <a:xfrm>
            <a:off x="12344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7" name="page"/>
          <p:cNvSpPr/>
          <p:nvPr/>
        </p:nvSpPr>
        <p:spPr>
          <a:xfrm>
            <a:off x="16916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8" name="page"/>
          <p:cNvSpPr/>
          <p:nvPr/>
        </p:nvSpPr>
        <p:spPr>
          <a:xfrm>
            <a:off x="21488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9" name="page"/>
          <p:cNvSpPr/>
          <p:nvPr/>
        </p:nvSpPr>
        <p:spPr>
          <a:xfrm>
            <a:off x="26060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0" name="page"/>
          <p:cNvSpPr/>
          <p:nvPr/>
        </p:nvSpPr>
        <p:spPr>
          <a:xfrm>
            <a:off x="7772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1" name="page"/>
          <p:cNvSpPr/>
          <p:nvPr/>
        </p:nvSpPr>
        <p:spPr>
          <a:xfrm>
            <a:off x="12344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2" name="page"/>
          <p:cNvSpPr/>
          <p:nvPr/>
        </p:nvSpPr>
        <p:spPr>
          <a:xfrm>
            <a:off x="16916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3" name="page"/>
          <p:cNvSpPr/>
          <p:nvPr/>
        </p:nvSpPr>
        <p:spPr>
          <a:xfrm>
            <a:off x="21488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4" name="page"/>
          <p:cNvSpPr/>
          <p:nvPr/>
        </p:nvSpPr>
        <p:spPr>
          <a:xfrm>
            <a:off x="26060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5" name="page"/>
          <p:cNvSpPr/>
          <p:nvPr/>
        </p:nvSpPr>
        <p:spPr>
          <a:xfrm>
            <a:off x="7772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6" name="page"/>
          <p:cNvSpPr/>
          <p:nvPr/>
        </p:nvSpPr>
        <p:spPr>
          <a:xfrm>
            <a:off x="12344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7" name="page"/>
          <p:cNvSpPr/>
          <p:nvPr/>
        </p:nvSpPr>
        <p:spPr>
          <a:xfrm>
            <a:off x="16916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8" name="page"/>
          <p:cNvSpPr/>
          <p:nvPr/>
        </p:nvSpPr>
        <p:spPr>
          <a:xfrm>
            <a:off x="21488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9" name="page"/>
          <p:cNvSpPr/>
          <p:nvPr/>
        </p:nvSpPr>
        <p:spPr>
          <a:xfrm>
            <a:off x="26060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20" name="page"/>
          <p:cNvSpPr/>
          <p:nvPr/>
        </p:nvSpPr>
        <p:spPr>
          <a:xfrm>
            <a:off x="7772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21" name="page"/>
          <p:cNvSpPr/>
          <p:nvPr/>
        </p:nvSpPr>
        <p:spPr>
          <a:xfrm>
            <a:off x="12344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22" name="page"/>
          <p:cNvSpPr/>
          <p:nvPr/>
        </p:nvSpPr>
        <p:spPr>
          <a:xfrm>
            <a:off x="16916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23" name="page"/>
          <p:cNvSpPr/>
          <p:nvPr/>
        </p:nvSpPr>
        <p:spPr>
          <a:xfrm>
            <a:off x="21488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24" name="page"/>
          <p:cNvSpPr/>
          <p:nvPr/>
        </p:nvSpPr>
        <p:spPr>
          <a:xfrm>
            <a:off x="26060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ingest re-reads the whole wiki</a:t>
            </a:r>
            <a:endParaRPr lang="en-US" sz="1400" dirty="0"/>
          </a:p>
        </p:txBody>
      </p:sp>
      <p:sp>
        <p:nvSpPr>
          <p:cNvPr id="26" name="connector"/>
          <p:cNvSpPr/>
          <p:nvPr/>
        </p:nvSpPr>
        <p:spPr>
          <a:xfrm>
            <a:off x="3337560" y="2880360"/>
            <a:ext cx="36576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card"/>
          <p:cNvSpPr/>
          <p:nvPr/>
        </p:nvSpPr>
        <p:spPr>
          <a:xfrm>
            <a:off x="3749040" y="137160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9776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29" name="page"/>
          <p:cNvSpPr/>
          <p:nvPr/>
        </p:nvSpPr>
        <p:spPr>
          <a:xfrm>
            <a:off x="39776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0" name="page"/>
          <p:cNvSpPr/>
          <p:nvPr/>
        </p:nvSpPr>
        <p:spPr>
          <a:xfrm>
            <a:off x="44348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1" name="page"/>
          <p:cNvSpPr/>
          <p:nvPr/>
        </p:nvSpPr>
        <p:spPr>
          <a:xfrm>
            <a:off x="48920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2" name="page"/>
          <p:cNvSpPr/>
          <p:nvPr/>
        </p:nvSpPr>
        <p:spPr>
          <a:xfrm>
            <a:off x="53492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3" name="page"/>
          <p:cNvSpPr/>
          <p:nvPr/>
        </p:nvSpPr>
        <p:spPr>
          <a:xfrm>
            <a:off x="58064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4" name="page"/>
          <p:cNvSpPr/>
          <p:nvPr/>
        </p:nvSpPr>
        <p:spPr>
          <a:xfrm>
            <a:off x="39776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5" name="page"/>
          <p:cNvSpPr/>
          <p:nvPr/>
        </p:nvSpPr>
        <p:spPr>
          <a:xfrm>
            <a:off x="44348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6" name="page"/>
          <p:cNvSpPr/>
          <p:nvPr/>
        </p:nvSpPr>
        <p:spPr>
          <a:xfrm>
            <a:off x="48920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37" name="page"/>
          <p:cNvSpPr/>
          <p:nvPr/>
        </p:nvSpPr>
        <p:spPr>
          <a:xfrm>
            <a:off x="53492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8" name="page"/>
          <p:cNvSpPr/>
          <p:nvPr/>
        </p:nvSpPr>
        <p:spPr>
          <a:xfrm>
            <a:off x="58064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39" name="page"/>
          <p:cNvSpPr/>
          <p:nvPr/>
        </p:nvSpPr>
        <p:spPr>
          <a:xfrm>
            <a:off x="39776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0" name="page"/>
          <p:cNvSpPr/>
          <p:nvPr/>
        </p:nvSpPr>
        <p:spPr>
          <a:xfrm>
            <a:off x="44348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1" name="page"/>
          <p:cNvSpPr/>
          <p:nvPr/>
        </p:nvSpPr>
        <p:spPr>
          <a:xfrm>
            <a:off x="48920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2" name="page"/>
          <p:cNvSpPr/>
          <p:nvPr/>
        </p:nvSpPr>
        <p:spPr>
          <a:xfrm>
            <a:off x="53492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3" name="page"/>
          <p:cNvSpPr/>
          <p:nvPr/>
        </p:nvSpPr>
        <p:spPr>
          <a:xfrm>
            <a:off x="58064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4" name="page"/>
          <p:cNvSpPr/>
          <p:nvPr/>
        </p:nvSpPr>
        <p:spPr>
          <a:xfrm>
            <a:off x="39776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5" name="page"/>
          <p:cNvSpPr/>
          <p:nvPr/>
        </p:nvSpPr>
        <p:spPr>
          <a:xfrm>
            <a:off x="44348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6" name="page"/>
          <p:cNvSpPr/>
          <p:nvPr/>
        </p:nvSpPr>
        <p:spPr>
          <a:xfrm>
            <a:off x="48920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7" name="page"/>
          <p:cNvSpPr/>
          <p:nvPr/>
        </p:nvSpPr>
        <p:spPr>
          <a:xfrm>
            <a:off x="53492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8" name="page"/>
          <p:cNvSpPr/>
          <p:nvPr/>
        </p:nvSpPr>
        <p:spPr>
          <a:xfrm>
            <a:off x="5806440" y="3383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D3D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9776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ingest re-checks only the changed source</a:t>
            </a:r>
            <a:endParaRPr lang="en-US" sz="1400" dirty="0"/>
          </a:p>
        </p:txBody>
      </p:sp>
      <p:sp>
        <p:nvSpPr>
          <p:cNvPr id="50" name="card"/>
          <p:cNvSpPr/>
          <p:nvPr/>
        </p:nvSpPr>
        <p:spPr>
          <a:xfrm>
            <a:off x="6858000" y="1371600"/>
            <a:ext cx="4754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51" name="icon-circle"/>
          <p:cNvSpPr/>
          <p:nvPr/>
        </p:nvSpPr>
        <p:spPr>
          <a:xfrm>
            <a:off x="7040880" y="155448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2" name="Image 0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9470" y="1703070"/>
            <a:ext cx="297180" cy="297180"/>
          </a:xfrm>
          <a:prstGeom prst="rect">
            <a:avLst/>
          </a:prstGeom>
        </p:spPr>
      </p:pic>
      <p:sp>
        <p:nvSpPr>
          <p:cNvPr id="53" name="Text 50"/>
          <p:cNvSpPr txBox="1"/>
          <p:nvPr/>
        </p:nvSpPr>
        <p:spPr>
          <a:xfrm>
            <a:off x="781812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800" dirty="0"/>
          </a:p>
        </p:txBody>
      </p:sp>
      <p:sp>
        <p:nvSpPr>
          <p:cNvPr id="54" name="Text 51"/>
          <p:cNvSpPr txBox="1"/>
          <p:nvPr/>
        </p:nvSpPr>
        <p:spPr>
          <a:xfrm>
            <a:off x="781812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pass/fail check on claim records, not a model grading itself. The LLM only proposes fixes. A human signs off.</a:t>
            </a:r>
            <a:endParaRPr lang="en-US" sz="1400" dirty="0"/>
          </a:p>
        </p:txBody>
      </p:sp>
      <p:sp>
        <p:nvSpPr>
          <p:cNvPr id="55" name="card"/>
          <p:cNvSpPr/>
          <p:nvPr/>
        </p:nvSpPr>
        <p:spPr>
          <a:xfrm>
            <a:off x="6858000" y="2971800"/>
            <a:ext cx="4754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56" name="icon-circle"/>
          <p:cNvSpPr/>
          <p:nvPr/>
        </p:nvSpPr>
        <p:spPr>
          <a:xfrm>
            <a:off x="7040880" y="31546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7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470" y="3303270"/>
            <a:ext cx="297180" cy="29718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7818120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59" name="Text 55"/>
          <p:cNvSpPr txBox="1"/>
          <p:nvPr/>
        </p:nvSpPr>
        <p:spPr>
          <a:xfrm>
            <a:off x="7818120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Index-first navigation today. Add hybrid search as the wiki grows. Retrieval fetches passages. It never decides alignment.</a:t>
            </a:r>
            <a:endParaRPr lang="en-US" sz="1400" dirty="0"/>
          </a:p>
        </p:txBody>
      </p:sp>
      <p:sp>
        <p:nvSpPr>
          <p:cNvPr id="60" name="callout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follows the size of the change, not the size of the corpus.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in the Cognite ecosystem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822960" y="16459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CDF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CDF project is one more source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pipelines and code are ingested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by default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572000" y="16459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Flows apps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9260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AdaptPro as a Flows custom app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 or panel inside a Flows app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that Flows apps call via API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8321040" y="16459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41832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AI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9260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plugin, skill or subagent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root-cause analysis the engagement's persona pages and open topics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beyond the incident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Cognite</a:t>
            </a:r>
            <a:endParaRPr lang="en-US" sz="3400" dirty="0"/>
          </a:p>
        </p:txBody>
      </p:sp>
      <p:sp>
        <p:nvSpPr>
          <p:cNvPr id="3" name="connector"/>
          <p:cNvSpPr/>
          <p:nvPr/>
        </p:nvSpPr>
        <p:spPr>
          <a:xfrm flipV="1">
            <a:off x="6099048" y="1828800"/>
            <a:ext cx="0" cy="20116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connector"/>
          <p:cNvSpPr/>
          <p:nvPr/>
        </p:nvSpPr>
        <p:spPr>
          <a:xfrm flipV="1">
            <a:off x="6099048" y="3218837"/>
            <a:ext cx="3652514" cy="621643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connector"/>
          <p:cNvSpPr/>
          <p:nvPr/>
        </p:nvSpPr>
        <p:spPr>
          <a:xfrm>
            <a:off x="6099048" y="3840480"/>
            <a:ext cx="2257378" cy="1627483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connector"/>
          <p:cNvSpPr/>
          <p:nvPr/>
        </p:nvSpPr>
        <p:spPr>
          <a:xfrm flipH="1">
            <a:off x="3841670" y="3840480"/>
            <a:ext cx="2257378" cy="1627483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connector"/>
          <p:cNvSpPr/>
          <p:nvPr/>
        </p:nvSpPr>
        <p:spPr>
          <a:xfrm flipH="1" flipV="1">
            <a:off x="2446534" y="3218837"/>
            <a:ext cx="3652514" cy="621643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icon-circle"/>
          <p:cNvSpPr/>
          <p:nvPr/>
        </p:nvSpPr>
        <p:spPr>
          <a:xfrm>
            <a:off x="5276088" y="3017520"/>
            <a:ext cx="1645920" cy="1645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76088" y="30175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AdaptPro</a:t>
            </a:r>
            <a:endParaRPr lang="en-US" sz="2000" dirty="0"/>
          </a:p>
        </p:txBody>
      </p:sp>
      <p:sp>
        <p:nvSpPr>
          <p:cNvPr id="10" name="node-0"/>
          <p:cNvSpPr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68172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0" descr="FaUser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169164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367528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assistant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367528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stakeholders, up to speed</a:t>
            </a:r>
            <a:endParaRPr lang="en-US" sz="1400" dirty="0"/>
          </a:p>
        </p:txBody>
      </p:sp>
      <p:sp>
        <p:nvSpPr>
          <p:cNvPr id="15" name="node-1"/>
          <p:cNvSpPr/>
          <p:nvPr/>
        </p:nvSpPr>
        <p:spPr>
          <a:xfrm>
            <a:off x="8197082" y="2670197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8334242" y="2944517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1" descr="FaCalenda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402" y="3081677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020042" y="2761637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assistant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9020042" y="3145685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Before, during and after</a:t>
            </a:r>
            <a:endParaRPr lang="en-US" sz="1400" dirty="0"/>
          </a:p>
        </p:txBody>
      </p:sp>
      <p:sp>
        <p:nvSpPr>
          <p:cNvPr id="20" name="node-2"/>
          <p:cNvSpPr/>
          <p:nvPr/>
        </p:nvSpPr>
        <p:spPr>
          <a:xfrm>
            <a:off x="6801946" y="4919323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1" name="icon-circle"/>
          <p:cNvSpPr/>
          <p:nvPr/>
        </p:nvSpPr>
        <p:spPr>
          <a:xfrm>
            <a:off x="6939106" y="5193643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FaGav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266" y="5330803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624906" y="5010763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audit trail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624906" y="5394811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what, where, how, when</a:t>
            </a:r>
            <a:endParaRPr lang="en-US" sz="1400" dirty="0"/>
          </a:p>
        </p:txBody>
      </p:sp>
      <p:sp>
        <p:nvSpPr>
          <p:cNvPr id="25" name="node-3"/>
          <p:cNvSpPr/>
          <p:nvPr/>
        </p:nvSpPr>
        <p:spPr>
          <a:xfrm>
            <a:off x="2287190" y="4919323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6" name="icon-circle"/>
          <p:cNvSpPr/>
          <p:nvPr/>
        </p:nvSpPr>
        <p:spPr>
          <a:xfrm>
            <a:off x="2424350" y="5193643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mage 3" descr="Fa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510" y="5330803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110150" y="5010763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mediator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3110150" y="5394811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personas' decisions clash</a:t>
            </a:r>
            <a:endParaRPr lang="en-US" sz="1400" dirty="0"/>
          </a:p>
        </p:txBody>
      </p:sp>
      <p:sp>
        <p:nvSpPr>
          <p:cNvPr id="30" name="node-4"/>
          <p:cNvSpPr/>
          <p:nvPr/>
        </p:nvSpPr>
        <p:spPr>
          <a:xfrm>
            <a:off x="892054" y="2670197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1" name="icon-circle"/>
          <p:cNvSpPr/>
          <p:nvPr/>
        </p:nvSpPr>
        <p:spPr>
          <a:xfrm>
            <a:off x="1029214" y="2944517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2" name="Image 4" descr="FaBuild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374" y="3081677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715014" y="2761637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 knowledge builder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1715014" y="3145685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of decisions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open risks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exposure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customers let AI systems build a knowledge graph on their data?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55848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584448" y="16002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38" y="17487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4448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Over-reliance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inform. They must not make the decision.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63056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91656" y="16002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46" y="17487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91656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risk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data from many sources widens the attack surface.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970264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9198864" y="16002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FaUserSecr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454" y="174879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98864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98864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and email in a KB can feel like monitoring.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79476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4" name="icon-circle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Image 4" descr="FaGav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17195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ownership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resolves a clash between personas?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355848" y="379476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29" name="icon-circle"/>
          <p:cNvSpPr/>
          <p:nvPr/>
        </p:nvSpPr>
        <p:spPr>
          <a:xfrm>
            <a:off x="3584448" y="4023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FaFla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038" y="417195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84448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Source-of-truth fights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3584448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wins when they disagree?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163056" y="379476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B2D">
                <a:alpha val="12000"/>
              </a:srgbClr>
            </a:outerShdw>
          </a:effectLst>
        </p:spPr>
      </p:sp>
      <p:sp>
        <p:nvSpPr>
          <p:cNvPr id="34" name="icon-circle"/>
          <p:cNvSpPr/>
          <p:nvPr/>
        </p:nvSpPr>
        <p:spPr>
          <a:xfrm>
            <a:off x="6391656" y="40233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5" name="Image 6" descr="FaCoin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246" y="4171950"/>
            <a:ext cx="297180" cy="2971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391656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at scale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6391656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review time grow with the wiki.</a:t>
            </a:r>
            <a:endParaRPr lang="en-US" sz="1400" dirty="0"/>
          </a:p>
        </p:txBody>
      </p:sp>
      <p:sp>
        <p:nvSpPr>
          <p:cNvPr id="38" name="callout"/>
          <p:cNvSpPr/>
          <p:nvPr/>
        </p:nvSpPr>
        <p:spPr>
          <a:xfrm>
            <a:off x="8970264" y="379476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tx1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8970264" y="3794760"/>
            <a:ext cx="2651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inform.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decide.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891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knowledge base first. The agents are only as good as what it knows.</a:t>
            </a:r>
            <a:endParaRPr lang="en-US" sz="2000" dirty="0"/>
          </a:p>
        </p:txBody>
      </p:sp>
      <p:sp>
        <p:nvSpPr>
          <p:cNvPr id="5" name="venn-business"/>
          <p:cNvSpPr/>
          <p:nvPr/>
        </p:nvSpPr>
        <p:spPr>
          <a:xfrm>
            <a:off x="7635240" y="2788920"/>
            <a:ext cx="2011680" cy="2011680"/>
          </a:xfrm>
          <a:prstGeom prst="ellipse">
            <a:avLst/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6" name="venn-tech"/>
          <p:cNvSpPr/>
          <p:nvPr/>
        </p:nvSpPr>
        <p:spPr>
          <a:xfrm>
            <a:off x="9006840" y="2788920"/>
            <a:ext cx="2011680" cy="2011680"/>
          </a:xfrm>
          <a:prstGeom prst="ellipse">
            <a:avLst/>
          </a:prstGeom>
          <a:solidFill>
            <a:schemeClr val="accent3">
              <a:alpha val="75000"/>
            </a:schemeClr>
          </a:solidFill>
          <a:ln/>
        </p:spPr>
      </p:sp>
      <p:sp>
        <p:nvSpPr>
          <p:cNvPr id="7" name="venn-product"/>
          <p:cNvSpPr/>
          <p:nvPr/>
        </p:nvSpPr>
        <p:spPr>
          <a:xfrm>
            <a:off x="8321040" y="1691640"/>
            <a:ext cx="2011680" cy="20116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8" name="venn-kb"/>
          <p:cNvSpPr/>
          <p:nvPr/>
        </p:nvSpPr>
        <p:spPr>
          <a:xfrm>
            <a:off x="8915400" y="3108960"/>
            <a:ext cx="822960" cy="82296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9" name="Image 0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0" y="33147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daptPro">
  <a:themeElements>
    <a:clrScheme name="AdaptPro">
      <a:dk1>
        <a:srgbClr val="0F1B2D"/>
      </a:dk1>
      <a:lt1>
        <a:srgbClr val="FFFFFF"/>
      </a:lt1>
      <a:dk2>
        <a:srgbClr val="1E3A5F"/>
      </a:dk2>
      <a:lt2>
        <a:srgbClr val="EEF3F7"/>
      </a:lt2>
      <a:accent1>
        <a:srgbClr val="1FA89A"/>
      </a:accent1>
      <a:accent2>
        <a:srgbClr val="F2A93B"/>
      </a:accent2>
      <a:accent3>
        <a:srgbClr val="3B82F6"/>
      </a:accent3>
      <a:accent4>
        <a:srgbClr val="E5484D"/>
      </a:accent4>
      <a:accent5>
        <a:srgbClr val="7C5CFF"/>
      </a:accent5>
      <a:accent6>
        <a:srgbClr val="64748B"/>
      </a:accent6>
      <a:hlink>
        <a:srgbClr val="3B82F6"/>
      </a:hlink>
      <a:folHlink>
        <a:srgbClr val="7C5CFF"/>
      </a:folHlink>
    </a:clrScheme>
    <a:fontScheme name="AdaptP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AdaptPro: a self-maintaining knowledge base for cross-functional alignment</dc:title>
  <dc:subject>PptxGenJS Presentation</dc:subject>
  <dc:creator>Pranav Kalwad</dc:creator>
  <cp:lastModifiedBy>Pranav Kalwad</cp:lastModifiedBy>
  <cp:revision>1</cp:revision>
  <dcterms:created xsi:type="dcterms:W3CDTF">2026-10-17T17:26:34Z</dcterms:created>
  <dcterms:modified xsi:type="dcterms:W3CDTF">2026-10-17T17:26:34Z</dcterms:modified>
</cp:coreProperties>
</file>