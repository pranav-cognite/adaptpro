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08760" y="1143000"/>
            <a:ext cx="822960" cy="822960"/>
          </a:xfrm>
          <a:prstGeom prst="ellipse">
            <a:avLst/>
          </a:prstGeom>
          <a:solidFill>
            <a:srgbClr val="3A4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4" name="Oval 3"/>
          <p:cNvSpPr/>
          <p:nvPr/>
        </p:nvSpPr>
        <p:spPr>
          <a:xfrm>
            <a:off x="2240279" y="1143000"/>
            <a:ext cx="822960" cy="822960"/>
          </a:xfrm>
          <a:prstGeom prst="ellipse">
            <a:avLst/>
          </a:prstGeom>
          <a:solidFill>
            <a:srgbClr val="4A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1874519" y="1783080"/>
            <a:ext cx="822960" cy="822960"/>
          </a:xfrm>
          <a:prstGeom prst="ellipse">
            <a:avLst/>
          </a:prstGeom>
          <a:solidFill>
            <a:srgbClr val="5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AdaptPro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CADCFC"/>
                </a:solidFill>
                <a:latin typeface="Calibri"/>
              </a:rPr>
              <a:t>AI intelligence for enhanced cross-functional decision 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A8D9"/>
                </a:solidFill>
                <a:latin typeface="Calibri"/>
              </a:rPr>
              <a:t>Rehearsal demo for Pranav Kalwad  —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Three correct answers. Three different products.</a:t>
            </a:r>
          </a:p>
        </p:txBody>
      </p:sp>
      <p:sp>
        <p:nvSpPr>
          <p:cNvPr id="4" name="Oval 3"/>
          <p:cNvSpPr/>
          <p:nvPr/>
        </p:nvSpPr>
        <p:spPr>
          <a:xfrm>
            <a:off x="1257300" y="1897380"/>
            <a:ext cx="1143000" cy="1143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Calibri"/>
              </a:rPr>
              <a:t>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38A"/>
                </a:solidFill>
                <a:latin typeface="Calibri"/>
              </a:rPr>
              <a:t>promises something
to a customer</a:t>
            </a:r>
          </a:p>
        </p:txBody>
      </p:sp>
      <p:sp>
        <p:nvSpPr>
          <p:cNvPr id="7" name="Oval 6"/>
          <p:cNvSpPr/>
          <p:nvPr/>
        </p:nvSpPr>
        <p:spPr>
          <a:xfrm>
            <a:off x="4000500" y="1897380"/>
            <a:ext cx="1143000" cy="1143000"/>
          </a:xfrm>
          <a:prstGeom prst="ellipse">
            <a:avLst/>
          </a:prstGeom>
          <a:solidFill>
            <a:srgbClr val="3A4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611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38A"/>
                </a:solidFill>
                <a:latin typeface="Calibri"/>
              </a:rPr>
              <a:t>plans something
to ship</a:t>
            </a:r>
          </a:p>
        </p:txBody>
      </p:sp>
      <p:sp>
        <p:nvSpPr>
          <p:cNvPr id="10" name="Oval 9"/>
          <p:cNvSpPr/>
          <p:nvPr/>
        </p:nvSpPr>
        <p:spPr>
          <a:xfrm>
            <a:off x="6743700" y="1897380"/>
            <a:ext cx="1143000" cy="1143000"/>
          </a:xfrm>
          <a:prstGeom prst="ellipse">
            <a:avLst/>
          </a:prstGeom>
          <a:solidFill>
            <a:srgbClr val="5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200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Calibri"/>
              </a:rPr>
              <a:t>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611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38A"/>
                </a:solidFill>
                <a:latin typeface="Calibri"/>
              </a:rPr>
              <a:t>decides what's
actually buildable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10881360" cy="173736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83A3A"/>
                </a:solidFill>
                <a:latin typeface="Calibri"/>
              </a:rPr>
              <a:t>THE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Each one can pass review entirely on its own. Nobody compares the three until a sprint is already underway, or a customer is already on a call — and by then, fixing it is expensive.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4864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SAMPLE — ILLUSTRATIVE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Here's exactly that pattern, made concrete. Veridion Chemicals (a sample company) wants a chat tool for its plant staff: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10881360" cy="13716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1" i="1">
                <a:solidFill>
                  <a:srgbClr val="1E2761"/>
                </a:solidFill>
                <a:latin typeface="Calibri"/>
              </a:rPr>
              <a:t>“What's OEE for Line 3 right now, and what's driving any drop?”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B638A"/>
                </a:solidFill>
                <a:latin typeface="Calibri"/>
              </a:rPr>
              <a:t>OEE — Availability × Performance × Quality — is the single number this plant runs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1A1A2E"/>
                </a:solidFill>
                <a:latin typeface="Calibri"/>
              </a:rPr>
              <a:t>One sentence. It sounds simple. Three teams still answered it differently — that's the whole talk.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The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THE FORK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What each side actually said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1417320"/>
          </a:xfrm>
          <a:prstGeom prst="round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83A3A"/>
                </a:solidFill>
                <a:latin typeface="Calibri"/>
              </a:rPr>
              <a:t>WHAT SALES PROMISED THE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1">
                <a:solidFill>
                  <a:srgbClr val="1A1A2E"/>
                </a:solidFill>
                <a:latin typeface="Calibri"/>
              </a:rPr>
              <a:t>“See real-time OEE for any line, and automatically generate a corrective work order the moment OEE drops below target.”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5257800" cy="233172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WHAT PRODUCT PLANNED TO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4663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“Any write action — creating or triggering a work order — from the chat is out. There is no path back out to the source system scoped here.”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429000"/>
            <a:ext cx="5257800" cy="233172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6118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WHAT TECH ACTUALLY DECIDED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977639"/>
            <a:ext cx="4663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“Explicitly rejected building a 'generate work order' capability for now — no work-order system, no agreed OEE threshold, exists to build it against.”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B638A"/>
                </a:solidFill>
                <a:latin typeface="Calibri"/>
              </a:rPr>
              <a:t>Unresolved, nobody owns it yet — written down verbatim in the shared project record.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The fork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One shared record. Agents that check each other.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1600199"/>
            <a:ext cx="1005840" cy="1005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Calibri"/>
              </a:rPr>
              <a:t>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638A"/>
                </a:solidFill>
                <a:latin typeface="Calibri"/>
              </a:rPr>
              <a:t>What's promised
to the customer</a:t>
            </a:r>
          </a:p>
        </p:txBody>
      </p:sp>
      <p:sp>
        <p:nvSpPr>
          <p:cNvPr id="7" name="Oval 6"/>
          <p:cNvSpPr/>
          <p:nvPr/>
        </p:nvSpPr>
        <p:spPr>
          <a:xfrm>
            <a:off x="3154680" y="1600199"/>
            <a:ext cx="1005840" cy="1005840"/>
          </a:xfrm>
          <a:prstGeom prst="ellipse">
            <a:avLst/>
          </a:prstGeom>
          <a:solidFill>
            <a:srgbClr val="3A4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697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06324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638A"/>
                </a:solidFill>
                <a:latin typeface="Calibri"/>
              </a:rPr>
              <a:t>What's actually
planned to ship</a:t>
            </a:r>
          </a:p>
        </p:txBody>
      </p:sp>
      <p:sp>
        <p:nvSpPr>
          <p:cNvPr id="10" name="Oval 9"/>
          <p:cNvSpPr/>
          <p:nvPr/>
        </p:nvSpPr>
        <p:spPr>
          <a:xfrm>
            <a:off x="5349240" y="1600199"/>
            <a:ext cx="1005840" cy="1005840"/>
          </a:xfrm>
          <a:prstGeom prst="ellipse">
            <a:avLst/>
          </a:prstGeom>
          <a:solidFill>
            <a:srgbClr val="5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97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Calibri"/>
              </a:rPr>
              <a:t>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06324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638A"/>
                </a:solidFill>
                <a:latin typeface="Calibri"/>
              </a:rPr>
              <a:t>What's actually
buildable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783080"/>
            <a:ext cx="3657600" cy="4343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659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8A70"/>
                </a:solidFill>
                <a:latin typeface="Calibri"/>
              </a:rPr>
              <a:t>ONE SHARED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31720"/>
            <a:ext cx="31089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Not three separate notes that each look fine on their own — one place, and a record of exactly where the three sides disagree.
It's built using the LLM Wiki pattern: sources get compiled into living pages once, then read and compared — never re-derived from scratch.
A meeting catches this once. This catches it every time, automatically.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6858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5B638A"/>
                </a:solidFill>
                <a:latin typeface="Calibri"/>
              </a:rPr>
              <a:t>—  </a:t>
            </a:r>
            <a:r>
              <a:rPr sz="1300">
                <a:solidFill>
                  <a:srgbClr val="1A1A2E"/>
                </a:solidFill>
                <a:latin typeface="Calibri"/>
              </a:rPr>
              <a:t>Three agents explain each side's view to the others, in plain language, in their own voice.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5B638A"/>
                </a:solidFill>
                <a:latin typeface="Calibri"/>
              </a:rPr>
              <a:t>—  </a:t>
            </a:r>
            <a:r>
              <a:rPr sz="1300">
                <a:solidFill>
                  <a:srgbClr val="1A1A2E"/>
                </a:solidFill>
                <a:latin typeface="Calibri"/>
              </a:rPr>
              <a:t>A fourth agent checks any new decision against all three before it's made.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5B638A"/>
                </a:solidFill>
                <a:latin typeface="Calibri"/>
              </a:rPr>
              <a:t>—  </a:t>
            </a:r>
            <a:r>
              <a:rPr sz="1300">
                <a:solidFill>
                  <a:srgbClr val="1A1A2E"/>
                </a:solidFill>
                <a:latin typeface="Calibri"/>
              </a:rPr>
              <a:t>All four only read — none can quietly rewrite the record to make a disagreement disappear.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What we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THE SOLUTION, IN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What's actually inside the knowledge base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201168" cy="201168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190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SCHEMA.md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1907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The rulebook — how the three sides are read, voiced, and checked.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14600"/>
            <a:ext cx="201168" cy="201168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personas/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0487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One page per side. Business's page says only what Business's own source says — never blended with Product's or Tech's.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00400"/>
            <a:ext cx="201168" cy="201168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906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glossaries/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09067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Each side's vocabulary, written in plain terms for the other two to read, not for itself.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86200"/>
            <a:ext cx="201168" cy="201168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764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synthesis/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77647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The disagreement record — plus any brief saved before a meeting.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0881360" cy="13716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8A70"/>
                </a:solidFill>
                <a:latin typeface="Calibri"/>
              </a:rPr>
              <a:t>THE LOOP THAT KEEPS IT HONEST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A source changes → only its one page updates.   Someone asks a question → the right pages get read, nothing else.   Either way → the pages get compared, and any disagreement goes on the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The solution, in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LIVE, FROM AN ACTUAL AGENT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Ask it to check a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881360" cy="914400"/>
          </a:xfrm>
          <a:prstGeom prst="roundRect">
            <a:avLst/>
          </a:prstGeom>
          <a:solidFill>
            <a:srgbClr val="2A3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“Add a tool that automatically creates a work order when Line 3's OEE drops below 70%.”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08813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Business: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20040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supports it — “this is overdue, not new.”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Product: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70332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out of scope — write actions were explicitly excluded in the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Tech: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20624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explicitly ruled out — the engineering decision rejected this exact tool.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4632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VERDICT: NOT ALIGNED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5B638A"/>
                </a:solidFill>
                <a:latin typeface="Calibri"/>
              </a:rPr>
              <a:t>Maps to the disagreement already on record — it did not invent a new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HONEST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Where this honestly stands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29000" cy="3200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8700" y="2080260"/>
            <a:ext cx="594360" cy="594360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Calibri"/>
              </a:rPr>
              <a:t>Shared 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6118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B638A"/>
                </a:solidFill>
                <a:latin typeface="Calibri"/>
              </a:rPr>
              <a:t>Three viewpoints, one disagreement record, built and working.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29000" cy="3200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32020" y="2080260"/>
            <a:ext cx="594360" cy="594360"/>
          </a:xfrm>
          <a:prstGeom prst="ellipse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80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Calibri"/>
              </a:rPr>
              <a:t>Agents that check each other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36118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11480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B638A"/>
                </a:solidFill>
                <a:latin typeface="Calibri"/>
              </a:rPr>
              <a:t>Separate voices, a lightweight checker. Still re-reads everything each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28800"/>
            <a:ext cx="3429000" cy="3200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35340" y="2080260"/>
            <a:ext cx="594360" cy="594360"/>
          </a:xfrm>
          <a:prstGeom prst="ellipse">
            <a:avLst/>
          </a:prstGeom>
          <a:solidFill>
            <a:srgbClr val="9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880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Calibri"/>
              </a:rPr>
              <a:t>A fully automatic, scale-proof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6118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9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NOT PURSUED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1480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B638A"/>
                </a:solidFill>
                <a:latin typeface="Calibri"/>
              </a:rPr>
              <a:t>Would need a permanent, dated sign-off system — out of scope right now.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1">
                <a:solidFill>
                  <a:srgbClr val="5B638A"/>
                </a:solidFill>
                <a:latin typeface="Calibri"/>
              </a:rPr>
              <a:t>Also open: nobody can yet sign off and date acceptance of a known gap, and a new check needs a fresh session before it's available.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Honest framing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APPENDIX ·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Architecture — current implementation</a:t>
            </a:r>
          </a:p>
        </p:txBody>
      </p:sp>
      <p:pic>
        <p:nvPicPr>
          <p:cNvPr id="4" name="Picture 3" descr="current-sty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165" y="1508760"/>
            <a:ext cx="4177364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B638A"/>
                </a:solidFill>
                <a:latin typeface="Calibri"/>
              </a:rPr>
              <a:t>Rendered from docs/architecture/current-implementation.md (mermaid source, versioned).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Appendix ·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APPENDIX ·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Architecture — for scale (not built)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9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3 — NOT IMPLEMENTED</a:t>
            </a:r>
          </a:p>
        </p:txBody>
      </p:sp>
      <p:pic>
        <p:nvPicPr>
          <p:cNvPr id="5" name="Picture 4" descr="scale-sty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079" y="1874519"/>
            <a:ext cx="5783537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B638A"/>
                </a:solidFill>
                <a:latin typeface="Calibri"/>
              </a:rPr>
              <a:t>Rendered from docs/architecture/for-scale.md (mermaid source, versioned).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Appendix · Diagrams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APPENDIX · SCALING TO REAL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Where a real knowledge base would draw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B638A"/>
                </a:solidFill>
                <a:latin typeface="Calibri"/>
              </a:rPr>
              <a:t>Today's wiki ingests 3 clean markdown documents. A real deployment would have to ingest this instead: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383280" cy="914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Zoom meeting summaries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383280" cy="914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377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Slack threads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377440"/>
            <a:ext cx="3383280" cy="914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377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Google Drive files/folders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3383280" cy="914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JIRA tickets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520440"/>
            <a:ext cx="3383280" cy="914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Confluence documentation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520440"/>
            <a:ext cx="3383280" cy="914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3520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Customer KT sessions (recordings, PDFs)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3383280" cy="914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Teams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663440"/>
            <a:ext cx="3383280" cy="914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663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Shared customer folders (MS Teams)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4663440"/>
            <a:ext cx="3383280" cy="9144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46634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Calibri"/>
              </a:rPr>
              <a:t>Pre-sales PPTs and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Appendix · Scaling to real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APPENDIX ·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Current implementation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5B638A"/>
                </a:solidFill>
                <a:latin typeface="Calibri"/>
              </a:rPr>
              <a:t>—  </a:t>
            </a:r>
            <a:r>
              <a:rPr sz="1400">
                <a:solidFill>
                  <a:srgbClr val="1A1A2E"/>
                </a:solidFill>
                <a:latin typeface="Calibri"/>
              </a:rPr>
              <a:t>Built from off-the-shelf Claude Code plugins — not production-grade.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5B638A"/>
                </a:solidFill>
                <a:latin typeface="Calibri"/>
              </a:rPr>
              <a:t>—  </a:t>
            </a:r>
            <a:r>
              <a:rPr sz="1400">
                <a:solidFill>
                  <a:srgbClr val="1A1A2E"/>
                </a:solidFill>
                <a:latin typeface="Calibri"/>
              </a:rPr>
              <a:t>A deliberately simple use case; lacks real-world chaos and edge cases.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5B638A"/>
                </a:solidFill>
                <a:latin typeface="Calibri"/>
              </a:rPr>
              <a:t>—  </a:t>
            </a:r>
            <a:r>
              <a:rPr sz="1400">
                <a:solidFill>
                  <a:srgbClr val="1A1A2E"/>
                </a:solidFill>
                <a:latin typeface="Calibri"/>
              </a:rPr>
              <a:t>Mock CDF project, not a real deployed use case.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5B638A"/>
                </a:solidFill>
                <a:latin typeface="Calibri"/>
              </a:rPr>
              <a:t>—  </a:t>
            </a:r>
            <a:r>
              <a:rPr sz="1400">
                <a:solidFill>
                  <a:srgbClr val="1A1A2E"/>
                </a:solidFill>
                <a:latin typeface="Calibri"/>
              </a:rPr>
              <a:t>The wiki is simple and doesn't yet include real-world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9202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5B638A"/>
                </a:solidFill>
                <a:latin typeface="Calibri"/>
              </a:rPr>
              <a:t>—  </a:t>
            </a:r>
            <a:r>
              <a:rPr sz="1400">
                <a:solidFill>
                  <a:srgbClr val="1A1A2E"/>
                </a:solidFill>
                <a:latin typeface="Calibri"/>
              </a:rPr>
              <a:t>Fails on scale — ironic, given this is this year's DevCon theme.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5B638A"/>
                </a:solidFill>
                <a:latin typeface="Calibri"/>
              </a:rPr>
              <a:t>—  </a:t>
            </a:r>
            <a:r>
              <a:rPr sz="1400">
                <a:solidFill>
                  <a:srgbClr val="1A1A2E"/>
                </a:solidFill>
                <a:latin typeface="Calibri"/>
              </a:rPr>
              <a:t>Agents aren't optimized for token efficiency.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5B638A"/>
                </a:solidFill>
                <a:latin typeface="Calibri"/>
              </a:rPr>
              <a:t>—  </a:t>
            </a:r>
            <a:r>
              <a:rPr sz="1400">
                <a:solidFill>
                  <a:srgbClr val="1A1A2E"/>
                </a:solidFill>
                <a:latin typeface="Calibri"/>
              </a:rPr>
              <a:t>Personas aren't rigidly implemented yet; needs a more mature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Appendix · Stated plainly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APPENDIX · WHERE THIS COULD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Opportunities to integrate into CDF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29000" cy="36576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65960" y="2125980"/>
            <a:ext cx="777240" cy="777240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CDF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880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B638A"/>
                </a:solidFill>
                <a:latin typeface="Calibri"/>
              </a:rPr>
              <a:t>Swap the mock project for a real CDF project — ground every persona page in live assets, time series, and activities instead of static fixtures.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36576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2125980"/>
            <a:ext cx="777240" cy="777240"/>
          </a:xfrm>
          <a:prstGeom prst="ellipse">
            <a:avLst/>
          </a:prstGeom>
          <a:solidFill>
            <a:srgbClr val="3A4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0632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Atlas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66160"/>
            <a:ext cx="2880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B638A"/>
                </a:solidFill>
                <a:latin typeface="Calibri"/>
              </a:rPr>
              <a:t>Run the briefing and decision-check agents as Atlas AI agents inside CDF, so any persona can query them directly, no separate coding session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429000" cy="3657600"/>
          </a:xfrm>
          <a:prstGeom prst="round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599" y="212598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632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Flows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566160"/>
            <a:ext cx="2880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B638A"/>
                </a:solidFill>
                <a:latin typeface="Calibri"/>
              </a:rPr>
              <a:t>Build a lightweight Flows app where someone picks their persona and sees their brief or a decision verdict in a real UI, not a terminal conversation.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Appendix · Where this could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8A70"/>
                </a:solidFill>
                <a:latin typeface="Calibri"/>
              </a:rPr>
              <a:t>APPENDIX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Product use cases, as of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607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 b="1">
                <a:solidFill>
                  <a:srgbClr val="5B638A"/>
                </a:solidFill>
                <a:latin typeface="Calibri"/>
              </a:rPr>
              <a:t>—  </a:t>
            </a:r>
            <a:r>
              <a:rPr sz="1700" b="1">
                <a:solidFill>
                  <a:srgbClr val="1A1A2E"/>
                </a:solidFill>
                <a:latin typeface="Calibri"/>
              </a:rPr>
              <a:t>Homework</a:t>
            </a:r>
            <a:r>
              <a:rPr sz="1700">
                <a:solidFill>
                  <a:srgbClr val="1A1A2E"/>
                </a:solidFill>
                <a:latin typeface="Calibri"/>
              </a:rPr>
              <a:t> for a cross-functional team meeting.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 b="1">
                <a:solidFill>
                  <a:srgbClr val="5B638A"/>
                </a:solidFill>
                <a:latin typeface="Calibri"/>
              </a:rPr>
              <a:t>—  </a:t>
            </a:r>
            <a:r>
              <a:rPr sz="1700" b="1">
                <a:solidFill>
                  <a:srgbClr val="1A1A2E"/>
                </a:solidFill>
                <a:latin typeface="Calibri"/>
              </a:rPr>
              <a:t>Exploration</a:t>
            </a:r>
            <a:r>
              <a:rPr sz="1700">
                <a:solidFill>
                  <a:srgbClr val="1A1A2E"/>
                </a:solidFill>
                <a:latin typeface="Calibri"/>
              </a:rPr>
              <a:t> of what the other line of business does.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 b="1">
                <a:solidFill>
                  <a:srgbClr val="5B638A"/>
                </a:solidFill>
                <a:latin typeface="Calibri"/>
              </a:rPr>
              <a:t>—  </a:t>
            </a:r>
            <a:r>
              <a:rPr sz="1700" b="1">
                <a:solidFill>
                  <a:srgbClr val="1A1A2E"/>
                </a:solidFill>
                <a:latin typeface="Calibri"/>
              </a:rPr>
              <a:t>Bigger-picture understanding</a:t>
            </a:r>
            <a:r>
              <a:rPr sz="1700">
                <a:solidFill>
                  <a:srgbClr val="1A1A2E"/>
                </a:solidFill>
                <a:latin typeface="Calibri"/>
              </a:rPr>
              <a:t> — how one person's work integrates into the grand scheme of things.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 b="1">
                <a:solidFill>
                  <a:srgbClr val="5B638A"/>
                </a:solidFill>
                <a:latin typeface="Calibri"/>
              </a:rPr>
              <a:t>—  </a:t>
            </a:r>
            <a:r>
              <a:rPr sz="1700" b="1">
                <a:solidFill>
                  <a:srgbClr val="1A1A2E"/>
                </a:solidFill>
                <a:latin typeface="Calibri"/>
              </a:rPr>
              <a:t>Intelligent decision-aligning assistant</a:t>
            </a:r>
            <a:r>
              <a:rPr sz="1700">
                <a:solidFill>
                  <a:srgbClr val="1A1A2E"/>
                </a:solidFill>
                <a:latin typeface="Calibri"/>
              </a:rPr>
              <a:t> — surfaces gaps within cross-functional teams before decisions are 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Appendix ·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8A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A THING TO CONSIDER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This agent is only as good as the questions the user actually 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1">
                <a:solidFill>
                  <a:srgbClr val="9AA8D9"/>
                </a:solidFill>
                <a:latin typeface="Calibri"/>
              </a:rPr>
              <a:t>That's what makes it a product of real use across levels — from an intern's first question to a CXO's — and also the sharpest limit on how good an answer can 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Appendix · Guiding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AdaptPro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1E2761"/>
                </a:solidFill>
                <a:latin typeface="Cambria"/>
              </a:rP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638A"/>
                </a:solidFill>
                <a:latin typeface="Calibri"/>
              </a:rPr>
              <a:t>Pranav Kalwad  —  AdaptPro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66927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10607040" y="5212079"/>
            <a:ext cx="731520" cy="731520"/>
          </a:xfrm>
          <a:prstGeom prst="ellipse">
            <a:avLst/>
          </a:prstGeom>
          <a:solidFill>
            <a:srgbClr val="3A4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943600"/>
            <a:ext cx="731520" cy="731520"/>
          </a:xfrm>
          <a:prstGeom prst="ellipse">
            <a:avLst/>
          </a:prstGeom>
          <a:solidFill>
            <a:srgbClr val="5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